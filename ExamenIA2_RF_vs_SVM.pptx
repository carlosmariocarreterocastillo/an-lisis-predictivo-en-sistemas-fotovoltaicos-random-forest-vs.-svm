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11A8C5"/>
          </a:solidFill>
          <a:ln w="12700">
            <a:solidFill>
              <a:srgbClr val="11A8C5"/>
            </a:solidFill>
            <a:prstDash val="solid"/>
          </a:ln>
        </p:spPr>
      </p:sp>
      <p:sp>
        <p:nvSpPr>
          <p:cNvPr id="3" name="Shape 1"/>
          <p:cNvSpPr/>
          <p:nvPr/>
        </p:nvSpPr>
        <p:spPr>
          <a:xfrm>
            <a:off x="5669280" y="-1097280"/>
            <a:ext cx="5029200" cy="5029200"/>
          </a:xfrm>
          <a:prstGeom prst="ellipse">
            <a:avLst/>
          </a:prstGeom>
          <a:solidFill>
            <a:srgbClr val="065A82">
              <a:alpha val="25000"/>
            </a:srgbClr>
          </a:solidFill>
          <a:ln w="6350">
            <a:solidFill>
              <a:srgbClr val="11A8C5"/>
            </a:solidFill>
            <a:prstDash val="solid"/>
          </a:ln>
        </p:spPr>
      </p:sp>
      <p:sp>
        <p:nvSpPr>
          <p:cNvPr id="4" name="Text 2"/>
          <p:cNvSpPr/>
          <p:nvPr/>
        </p:nvSpPr>
        <p:spPr>
          <a:xfrm>
            <a:off x="457200" y="502920"/>
            <a:ext cx="7315200" cy="320040"/>
          </a:xfrm>
          <a:prstGeom prst="rect">
            <a:avLst/>
          </a:prstGeom>
          <a:noFill/>
          <a:ln/>
        </p:spPr>
        <p:txBody>
          <a:bodyPr wrap="square" lIns="0" tIns="0" rIns="0" bIns="0" rtlCol="0" anchor="ctr"/>
          <a:lstStyle/>
          <a:p>
            <a:pPr indent="0" marL="0">
              <a:buNone/>
            </a:pPr>
            <a:r>
              <a:rPr lang="en-US" sz="1200" dirty="0">
                <a:solidFill>
                  <a:srgbClr val="B0C4CC"/>
                </a:solidFill>
                <a:latin typeface="Calibri" pitchFamily="34" charset="0"/>
                <a:ea typeface="Calibri" pitchFamily="34" charset="-122"/>
                <a:cs typeface="Calibri" pitchFamily="34" charset="-120"/>
              </a:rPr>
              <a:t>Universidad Tecnológica de Pereira</a:t>
            </a:r>
            <a:endParaRPr lang="en-US" sz="1200" dirty="0"/>
          </a:p>
        </p:txBody>
      </p:sp>
      <p:sp>
        <p:nvSpPr>
          <p:cNvPr id="5" name="Text 3"/>
          <p:cNvSpPr/>
          <p:nvPr/>
        </p:nvSpPr>
        <p:spPr>
          <a:xfrm>
            <a:off x="457200" y="804672"/>
            <a:ext cx="7315200" cy="274320"/>
          </a:xfrm>
          <a:prstGeom prst="rect">
            <a:avLst/>
          </a:prstGeom>
          <a:noFill/>
          <a:ln/>
        </p:spPr>
        <p:txBody>
          <a:bodyPr wrap="square" lIns="0" tIns="0" rIns="0" bIns="0" rtlCol="0" anchor="ctr"/>
          <a:lstStyle/>
          <a:p>
            <a:pPr indent="0" marL="0">
              <a:buNone/>
            </a:pPr>
            <a:r>
              <a:rPr lang="en-US" sz="1100" b="1" dirty="0">
                <a:solidFill>
                  <a:srgbClr val="11A8C5"/>
                </a:solidFill>
                <a:latin typeface="Calibri" pitchFamily="34" charset="0"/>
                <a:ea typeface="Calibri" pitchFamily="34" charset="-122"/>
                <a:cs typeface="Calibri" pitchFamily="34" charset="-120"/>
              </a:rPr>
              <a:t>Inteligencia Artificial — Examen 2</a:t>
            </a:r>
            <a:endParaRPr lang="en-US" sz="1100" dirty="0"/>
          </a:p>
        </p:txBody>
      </p:sp>
      <p:sp>
        <p:nvSpPr>
          <p:cNvPr id="6" name="Text 4"/>
          <p:cNvSpPr/>
          <p:nvPr/>
        </p:nvSpPr>
        <p:spPr>
          <a:xfrm>
            <a:off x="457200" y="1188720"/>
            <a:ext cx="7772400" cy="137160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Comparación entre</a:t>
            </a:r>
            <a:endParaRPr lang="en-US" sz="3600" dirty="0"/>
          </a:p>
          <a:p>
            <a:pPr indent="0" marL="0">
              <a:buNone/>
            </a:pPr>
            <a:r>
              <a:rPr lang="en-US" sz="3600" b="1" dirty="0">
                <a:solidFill>
                  <a:srgbClr val="FFFFFF"/>
                </a:solidFill>
                <a:latin typeface="Calibri" pitchFamily="34" charset="0"/>
                <a:ea typeface="Calibri" pitchFamily="34" charset="-122"/>
                <a:cs typeface="Calibri" pitchFamily="34" charset="-120"/>
              </a:rPr>
              <a:t>Random Forest y SVM</a:t>
            </a:r>
            <a:endParaRPr lang="en-US" sz="3600" dirty="0"/>
          </a:p>
        </p:txBody>
      </p:sp>
      <p:sp>
        <p:nvSpPr>
          <p:cNvPr id="7" name="Text 5"/>
          <p:cNvSpPr/>
          <p:nvPr/>
        </p:nvSpPr>
        <p:spPr>
          <a:xfrm>
            <a:off x="457200" y="2487168"/>
            <a:ext cx="7772400" cy="502920"/>
          </a:xfrm>
          <a:prstGeom prst="rect">
            <a:avLst/>
          </a:prstGeom>
          <a:noFill/>
          <a:ln/>
        </p:spPr>
        <p:txBody>
          <a:bodyPr wrap="square" lIns="0" tIns="0" rIns="0" bIns="0" rtlCol="0" anchor="ctr"/>
          <a:lstStyle/>
          <a:p>
            <a:pPr indent="0" marL="0">
              <a:buNone/>
            </a:pPr>
            <a:r>
              <a:rPr lang="en-US" sz="2200" i="1" dirty="0">
                <a:solidFill>
                  <a:srgbClr val="F4C430"/>
                </a:solidFill>
                <a:latin typeface="Calibri" pitchFamily="34" charset="0"/>
                <a:ea typeface="Calibri" pitchFamily="34" charset="-122"/>
                <a:cs typeface="Calibri" pitchFamily="34" charset="-120"/>
              </a:rPr>
              <a:t>en Problemas de Ingeniería</a:t>
            </a:r>
            <a:endParaRPr lang="en-US" sz="2200" dirty="0"/>
          </a:p>
        </p:txBody>
      </p:sp>
      <p:sp>
        <p:nvSpPr>
          <p:cNvPr id="8" name="Text 6"/>
          <p:cNvSpPr/>
          <p:nvPr/>
        </p:nvSpPr>
        <p:spPr>
          <a:xfrm>
            <a:off x="457200" y="3017520"/>
            <a:ext cx="7315200" cy="292608"/>
          </a:xfrm>
          <a:prstGeom prst="rect">
            <a:avLst/>
          </a:prstGeom>
          <a:noFill/>
          <a:ln/>
        </p:spPr>
        <p:txBody>
          <a:bodyPr wrap="square" lIns="0" tIns="0" rIns="0" bIns="0" rtlCol="0" anchor="ctr"/>
          <a:lstStyle/>
          <a:p>
            <a:pPr indent="0" marL="0">
              <a:buNone/>
            </a:pPr>
            <a:r>
              <a:rPr lang="en-US" sz="1300" dirty="0">
                <a:solidFill>
                  <a:srgbClr val="B0C4CC"/>
                </a:solidFill>
                <a:latin typeface="Calibri" pitchFamily="34" charset="0"/>
                <a:ea typeface="Calibri" pitchFamily="34" charset="-122"/>
                <a:cs typeface="Calibri" pitchFamily="34" charset="-120"/>
              </a:rPr>
              <a:t>Sistema Fotovoltaico Instrumentado · Industria 4.0</a:t>
            </a:r>
            <a:endParaRPr lang="en-US" sz="1300" dirty="0"/>
          </a:p>
        </p:txBody>
      </p:sp>
      <p:sp>
        <p:nvSpPr>
          <p:cNvPr id="9" name="Shape 7"/>
          <p:cNvSpPr/>
          <p:nvPr/>
        </p:nvSpPr>
        <p:spPr>
          <a:xfrm>
            <a:off x="457200" y="3429000"/>
            <a:ext cx="5029200" cy="22860"/>
          </a:xfrm>
          <a:prstGeom prst="rect">
            <a:avLst/>
          </a:prstGeom>
          <a:solidFill>
            <a:srgbClr val="11A8C5"/>
          </a:solidFill>
          <a:ln w="12700">
            <a:solidFill>
              <a:srgbClr val="11A8C5"/>
            </a:solidFill>
            <a:prstDash val="solid"/>
          </a:ln>
        </p:spPr>
      </p:sp>
      <p:sp>
        <p:nvSpPr>
          <p:cNvPr id="10" name="Text 8"/>
          <p:cNvSpPr/>
          <p:nvPr/>
        </p:nvSpPr>
        <p:spPr>
          <a:xfrm>
            <a:off x="457200" y="3611880"/>
            <a:ext cx="5486400" cy="27432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  Belsy Jhossira Mena Rentería</a:t>
            </a:r>
            <a:endParaRPr lang="en-US" sz="1200" dirty="0"/>
          </a:p>
        </p:txBody>
      </p:sp>
      <p:sp>
        <p:nvSpPr>
          <p:cNvPr id="11" name="Text 9"/>
          <p:cNvSpPr/>
          <p:nvPr/>
        </p:nvSpPr>
        <p:spPr>
          <a:xfrm>
            <a:off x="457200" y="3904488"/>
            <a:ext cx="5486400" cy="27432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  Daniel Restrepo Ocampo</a:t>
            </a:r>
            <a:endParaRPr lang="en-US" sz="1200" dirty="0"/>
          </a:p>
        </p:txBody>
      </p:sp>
      <p:sp>
        <p:nvSpPr>
          <p:cNvPr id="12" name="Text 10"/>
          <p:cNvSpPr/>
          <p:nvPr/>
        </p:nvSpPr>
        <p:spPr>
          <a:xfrm>
            <a:off x="457200" y="4197096"/>
            <a:ext cx="5486400" cy="274320"/>
          </a:xfrm>
          <a:prstGeom prst="rect">
            <a:avLst/>
          </a:prstGeom>
          <a:noFill/>
          <a:ln/>
        </p:spPr>
        <p:txBody>
          <a:bodyPr wrap="square" lIns="0" tIns="0" rIns="0" bIns="0" rtlCol="0" anchor="ctr"/>
          <a:lstStyle/>
          <a:p>
            <a:pPr indent="0" marL="0">
              <a:buNone/>
            </a:pPr>
            <a:r>
              <a:rPr lang="en-US" sz="1200" dirty="0">
                <a:solidFill>
                  <a:srgbClr val="E8F4F8"/>
                </a:solidFill>
                <a:latin typeface="Calibri" pitchFamily="34" charset="0"/>
                <a:ea typeface="Calibri" pitchFamily="34" charset="-122"/>
                <a:cs typeface="Calibri" pitchFamily="34" charset="-120"/>
              </a:rPr>
              <a:t>▸  Carlos Mario Carretero Castillo</a:t>
            </a:r>
            <a:endParaRPr lang="en-US" sz="1200" dirty="0"/>
          </a:p>
        </p:txBody>
      </p:sp>
      <p:sp>
        <p:nvSpPr>
          <p:cNvPr id="13" name="Text 11"/>
          <p:cNvSpPr/>
          <p:nvPr/>
        </p:nvSpPr>
        <p:spPr>
          <a:xfrm>
            <a:off x="457200" y="4709160"/>
            <a:ext cx="5486400" cy="228600"/>
          </a:xfrm>
          <a:prstGeom prst="rect">
            <a:avLst/>
          </a:prstGeom>
          <a:noFill/>
          <a:ln/>
        </p:spPr>
        <p:txBody>
          <a:bodyPr wrap="square" lIns="0" tIns="0" rIns="0" bIns="0" rtlCol="0" anchor="ctr"/>
          <a:lstStyle/>
          <a:p>
            <a:pPr indent="0" marL="0">
              <a:buNone/>
            </a:pPr>
            <a:r>
              <a:rPr lang="en-US" sz="1000" dirty="0">
                <a:solidFill>
                  <a:srgbClr val="B0C4CC"/>
                </a:solidFill>
                <a:latin typeface="Calibri" pitchFamily="34" charset="0"/>
                <a:ea typeface="Calibri" pitchFamily="34" charset="-122"/>
                <a:cs typeface="Calibri" pitchFamily="34" charset="-120"/>
              </a:rPr>
              <a:t>German A. Holguín L.  ·  Mayo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1271016"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1271016" cy="256032"/>
          </a:xfrm>
          <a:prstGeom prst="rect">
            <a:avLst/>
          </a:prstGeom>
          <a:noFill/>
          <a:ln/>
        </p:spPr>
        <p:txBody>
          <a:bodyPr wrap="square" lIns="0" tIns="0" rIns="0" bIns="0" rtlCol="0" anchor="ctr"/>
          <a:lstStyle/>
          <a:p>
            <a:pPr algn="ctr" indent="0" marL="0">
              <a:buNone/>
            </a:pPr>
            <a:r>
              <a:rPr lang="en-US" sz="800" b="1" dirty="0">
                <a:solidFill>
                  <a:srgbClr val="021526"/>
                </a:solidFill>
              </a:rPr>
              <a:t>CONTENIDO</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Flujo del Experimento</a:t>
            </a:r>
            <a:endParaRPr lang="en-US" sz="2400" dirty="0"/>
          </a:p>
        </p:txBody>
      </p:sp>
      <p:sp>
        <p:nvSpPr>
          <p:cNvPr id="6" name="Shape 4"/>
          <p:cNvSpPr/>
          <p:nvPr/>
        </p:nvSpPr>
        <p:spPr>
          <a:xfrm>
            <a:off x="1874520" y="2331720"/>
            <a:ext cx="228600" cy="54864"/>
          </a:xfrm>
          <a:prstGeom prst="rect">
            <a:avLst/>
          </a:prstGeom>
          <a:solidFill>
            <a:srgbClr val="11A8C5"/>
          </a:solidFill>
          <a:ln w="12700">
            <a:solidFill>
              <a:srgbClr val="11A8C5"/>
            </a:solidFill>
            <a:prstDash val="solid"/>
          </a:ln>
        </p:spPr>
      </p:sp>
      <p:sp>
        <p:nvSpPr>
          <p:cNvPr id="7" name="Text 5"/>
          <p:cNvSpPr/>
          <p:nvPr/>
        </p:nvSpPr>
        <p:spPr>
          <a:xfrm>
            <a:off x="2048256" y="2267712"/>
            <a:ext cx="201168" cy="201168"/>
          </a:xfrm>
          <a:prstGeom prst="rect">
            <a:avLst/>
          </a:prstGeom>
          <a:noFill/>
          <a:ln/>
        </p:spPr>
        <p:txBody>
          <a:bodyPr wrap="square" lIns="0" tIns="0" rIns="0" bIns="0" rtlCol="0" anchor="ctr"/>
          <a:lstStyle/>
          <a:p>
            <a:pPr indent="0" marL="0">
              <a:buNone/>
            </a:pPr>
            <a:r>
              <a:rPr lang="en-US" sz="900" dirty="0">
                <a:solidFill>
                  <a:srgbClr val="11A8C5"/>
                </a:solidFill>
              </a:rPr>
              <a:t>▶</a:t>
            </a:r>
            <a:endParaRPr lang="en-US" sz="900" dirty="0"/>
          </a:p>
        </p:txBody>
      </p:sp>
      <p:sp>
        <p:nvSpPr>
          <p:cNvPr id="8" name="Shape 6"/>
          <p:cNvSpPr/>
          <p:nvPr/>
        </p:nvSpPr>
        <p:spPr>
          <a:xfrm>
            <a:off x="320040" y="1188720"/>
            <a:ext cx="1554480" cy="347472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9" name="Text 7"/>
          <p:cNvSpPr/>
          <p:nvPr/>
        </p:nvSpPr>
        <p:spPr>
          <a:xfrm>
            <a:off x="320040" y="1280160"/>
            <a:ext cx="1554480" cy="502920"/>
          </a:xfrm>
          <a:prstGeom prst="rect">
            <a:avLst/>
          </a:prstGeom>
          <a:noFill/>
          <a:ln/>
        </p:spPr>
        <p:txBody>
          <a:bodyPr wrap="square" lIns="0" tIns="0" rIns="0" bIns="0" rtlCol="0" anchor="ctr"/>
          <a:lstStyle/>
          <a:p>
            <a:pPr algn="ctr" indent="0" marL="0">
              <a:buNone/>
            </a:pPr>
            <a:r>
              <a:rPr lang="en-US" sz="2800" b="1" dirty="0">
                <a:solidFill>
                  <a:srgbClr val="11A8C5"/>
                </a:solidFill>
              </a:rPr>
              <a:t>01</a:t>
            </a:r>
            <a:endParaRPr lang="en-US" sz="2800" dirty="0"/>
          </a:p>
        </p:txBody>
      </p:sp>
      <p:sp>
        <p:nvSpPr>
          <p:cNvPr id="10" name="Text 8"/>
          <p:cNvSpPr/>
          <p:nvPr/>
        </p:nvSpPr>
        <p:spPr>
          <a:xfrm>
            <a:off x="384048" y="1828800"/>
            <a:ext cx="142646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Simulación</a:t>
            </a:r>
            <a:endParaRPr lang="en-US" sz="1300" dirty="0"/>
          </a:p>
        </p:txBody>
      </p:sp>
      <p:sp>
        <p:nvSpPr>
          <p:cNvPr id="11" name="Text 9"/>
          <p:cNvSpPr/>
          <p:nvPr/>
        </p:nvSpPr>
        <p:spPr>
          <a:xfrm>
            <a:off x="384048" y="2395728"/>
            <a:ext cx="1426464" cy="173736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Dataset sintético con física fotovoltaica</a:t>
            </a:r>
            <a:endParaRPr lang="en-US" sz="1000" dirty="0"/>
          </a:p>
        </p:txBody>
      </p:sp>
      <p:sp>
        <p:nvSpPr>
          <p:cNvPr id="12" name="Shape 10"/>
          <p:cNvSpPr/>
          <p:nvPr/>
        </p:nvSpPr>
        <p:spPr>
          <a:xfrm>
            <a:off x="3703320" y="2331720"/>
            <a:ext cx="228600" cy="54864"/>
          </a:xfrm>
          <a:prstGeom prst="rect">
            <a:avLst/>
          </a:prstGeom>
          <a:solidFill>
            <a:srgbClr val="11A8C5"/>
          </a:solidFill>
          <a:ln w="12700">
            <a:solidFill>
              <a:srgbClr val="11A8C5"/>
            </a:solidFill>
            <a:prstDash val="solid"/>
          </a:ln>
        </p:spPr>
      </p:sp>
      <p:sp>
        <p:nvSpPr>
          <p:cNvPr id="13" name="Text 11"/>
          <p:cNvSpPr/>
          <p:nvPr/>
        </p:nvSpPr>
        <p:spPr>
          <a:xfrm>
            <a:off x="3877056" y="2267712"/>
            <a:ext cx="201168" cy="201168"/>
          </a:xfrm>
          <a:prstGeom prst="rect">
            <a:avLst/>
          </a:prstGeom>
          <a:noFill/>
          <a:ln/>
        </p:spPr>
        <p:txBody>
          <a:bodyPr wrap="square" lIns="0" tIns="0" rIns="0" bIns="0" rtlCol="0" anchor="ctr"/>
          <a:lstStyle/>
          <a:p>
            <a:pPr indent="0" marL="0">
              <a:buNone/>
            </a:pPr>
            <a:r>
              <a:rPr lang="en-US" sz="900" dirty="0">
                <a:solidFill>
                  <a:srgbClr val="11A8C5"/>
                </a:solidFill>
              </a:rPr>
              <a:t>▶</a:t>
            </a:r>
            <a:endParaRPr lang="en-US" sz="900" dirty="0"/>
          </a:p>
        </p:txBody>
      </p:sp>
      <p:sp>
        <p:nvSpPr>
          <p:cNvPr id="14" name="Shape 12"/>
          <p:cNvSpPr/>
          <p:nvPr/>
        </p:nvSpPr>
        <p:spPr>
          <a:xfrm>
            <a:off x="2148840" y="1188720"/>
            <a:ext cx="1554480" cy="347472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5" name="Text 13"/>
          <p:cNvSpPr/>
          <p:nvPr/>
        </p:nvSpPr>
        <p:spPr>
          <a:xfrm>
            <a:off x="2148840" y="1280160"/>
            <a:ext cx="1554480" cy="502920"/>
          </a:xfrm>
          <a:prstGeom prst="rect">
            <a:avLst/>
          </a:prstGeom>
          <a:noFill/>
          <a:ln/>
        </p:spPr>
        <p:txBody>
          <a:bodyPr wrap="square" lIns="0" tIns="0" rIns="0" bIns="0" rtlCol="0" anchor="ctr"/>
          <a:lstStyle/>
          <a:p>
            <a:pPr algn="ctr" indent="0" marL="0">
              <a:buNone/>
            </a:pPr>
            <a:r>
              <a:rPr lang="en-US" sz="2800" b="1" dirty="0">
                <a:solidFill>
                  <a:srgbClr val="11A8C5"/>
                </a:solidFill>
              </a:rPr>
              <a:t>02</a:t>
            </a:r>
            <a:endParaRPr lang="en-US" sz="2800" dirty="0"/>
          </a:p>
        </p:txBody>
      </p:sp>
      <p:sp>
        <p:nvSpPr>
          <p:cNvPr id="16" name="Text 14"/>
          <p:cNvSpPr/>
          <p:nvPr/>
        </p:nvSpPr>
        <p:spPr>
          <a:xfrm>
            <a:off x="2212848" y="1828800"/>
            <a:ext cx="142646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Preprocesamiento</a:t>
            </a:r>
            <a:endParaRPr lang="en-US" sz="1300" dirty="0"/>
          </a:p>
        </p:txBody>
      </p:sp>
      <p:sp>
        <p:nvSpPr>
          <p:cNvPr id="17" name="Text 15"/>
          <p:cNvSpPr/>
          <p:nvPr/>
        </p:nvSpPr>
        <p:spPr>
          <a:xfrm>
            <a:off x="2212848" y="2395728"/>
            <a:ext cx="1426464" cy="173736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Fuga de información · Escalado · Split 80/20</a:t>
            </a:r>
            <a:endParaRPr lang="en-US" sz="1000" dirty="0"/>
          </a:p>
        </p:txBody>
      </p:sp>
      <p:sp>
        <p:nvSpPr>
          <p:cNvPr id="18" name="Shape 16"/>
          <p:cNvSpPr/>
          <p:nvPr/>
        </p:nvSpPr>
        <p:spPr>
          <a:xfrm>
            <a:off x="5532120" y="2331720"/>
            <a:ext cx="228600" cy="54864"/>
          </a:xfrm>
          <a:prstGeom prst="rect">
            <a:avLst/>
          </a:prstGeom>
          <a:solidFill>
            <a:srgbClr val="11A8C5"/>
          </a:solidFill>
          <a:ln w="12700">
            <a:solidFill>
              <a:srgbClr val="11A8C5"/>
            </a:solidFill>
            <a:prstDash val="solid"/>
          </a:ln>
        </p:spPr>
      </p:sp>
      <p:sp>
        <p:nvSpPr>
          <p:cNvPr id="19" name="Text 17"/>
          <p:cNvSpPr/>
          <p:nvPr/>
        </p:nvSpPr>
        <p:spPr>
          <a:xfrm>
            <a:off x="5705856" y="2267712"/>
            <a:ext cx="201168" cy="201168"/>
          </a:xfrm>
          <a:prstGeom prst="rect">
            <a:avLst/>
          </a:prstGeom>
          <a:noFill/>
          <a:ln/>
        </p:spPr>
        <p:txBody>
          <a:bodyPr wrap="square" lIns="0" tIns="0" rIns="0" bIns="0" rtlCol="0" anchor="ctr"/>
          <a:lstStyle/>
          <a:p>
            <a:pPr indent="0" marL="0">
              <a:buNone/>
            </a:pPr>
            <a:r>
              <a:rPr lang="en-US" sz="900" dirty="0">
                <a:solidFill>
                  <a:srgbClr val="11A8C5"/>
                </a:solidFill>
              </a:rPr>
              <a:t>▶</a:t>
            </a:r>
            <a:endParaRPr lang="en-US" sz="900" dirty="0"/>
          </a:p>
        </p:txBody>
      </p:sp>
      <p:sp>
        <p:nvSpPr>
          <p:cNvPr id="20" name="Shape 18"/>
          <p:cNvSpPr/>
          <p:nvPr/>
        </p:nvSpPr>
        <p:spPr>
          <a:xfrm>
            <a:off x="3977640" y="1188720"/>
            <a:ext cx="1554480" cy="347472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21" name="Text 19"/>
          <p:cNvSpPr/>
          <p:nvPr/>
        </p:nvSpPr>
        <p:spPr>
          <a:xfrm>
            <a:off x="3977640" y="1280160"/>
            <a:ext cx="1554480" cy="502920"/>
          </a:xfrm>
          <a:prstGeom prst="rect">
            <a:avLst/>
          </a:prstGeom>
          <a:noFill/>
          <a:ln/>
        </p:spPr>
        <p:txBody>
          <a:bodyPr wrap="square" lIns="0" tIns="0" rIns="0" bIns="0" rtlCol="0" anchor="ctr"/>
          <a:lstStyle/>
          <a:p>
            <a:pPr algn="ctr" indent="0" marL="0">
              <a:buNone/>
            </a:pPr>
            <a:r>
              <a:rPr lang="en-US" sz="2800" b="1" dirty="0">
                <a:solidFill>
                  <a:srgbClr val="11A8C5"/>
                </a:solidFill>
              </a:rPr>
              <a:t>03</a:t>
            </a:r>
            <a:endParaRPr lang="en-US" sz="2800" dirty="0"/>
          </a:p>
        </p:txBody>
      </p:sp>
      <p:sp>
        <p:nvSpPr>
          <p:cNvPr id="22" name="Text 20"/>
          <p:cNvSpPr/>
          <p:nvPr/>
        </p:nvSpPr>
        <p:spPr>
          <a:xfrm>
            <a:off x="4041648" y="1828800"/>
            <a:ext cx="142646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Entrenamiento</a:t>
            </a:r>
            <a:endParaRPr lang="en-US" sz="1300" dirty="0"/>
          </a:p>
        </p:txBody>
      </p:sp>
      <p:sp>
        <p:nvSpPr>
          <p:cNvPr id="23" name="Text 21"/>
          <p:cNvSpPr/>
          <p:nvPr/>
        </p:nvSpPr>
        <p:spPr>
          <a:xfrm>
            <a:off x="4041648" y="2395728"/>
            <a:ext cx="1426464" cy="173736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RFC · SVC · RFR · SVR · RandomizedSearchCV</a:t>
            </a:r>
            <a:endParaRPr lang="en-US" sz="1000" dirty="0"/>
          </a:p>
        </p:txBody>
      </p:sp>
      <p:sp>
        <p:nvSpPr>
          <p:cNvPr id="24" name="Shape 22"/>
          <p:cNvSpPr/>
          <p:nvPr/>
        </p:nvSpPr>
        <p:spPr>
          <a:xfrm>
            <a:off x="7360920" y="2331720"/>
            <a:ext cx="228600" cy="54864"/>
          </a:xfrm>
          <a:prstGeom prst="rect">
            <a:avLst/>
          </a:prstGeom>
          <a:solidFill>
            <a:srgbClr val="11A8C5"/>
          </a:solidFill>
          <a:ln w="12700">
            <a:solidFill>
              <a:srgbClr val="11A8C5"/>
            </a:solidFill>
            <a:prstDash val="solid"/>
          </a:ln>
        </p:spPr>
      </p:sp>
      <p:sp>
        <p:nvSpPr>
          <p:cNvPr id="25" name="Text 23"/>
          <p:cNvSpPr/>
          <p:nvPr/>
        </p:nvSpPr>
        <p:spPr>
          <a:xfrm>
            <a:off x="7534656" y="2267712"/>
            <a:ext cx="201168" cy="201168"/>
          </a:xfrm>
          <a:prstGeom prst="rect">
            <a:avLst/>
          </a:prstGeom>
          <a:noFill/>
          <a:ln/>
        </p:spPr>
        <p:txBody>
          <a:bodyPr wrap="square" lIns="0" tIns="0" rIns="0" bIns="0" rtlCol="0" anchor="ctr"/>
          <a:lstStyle/>
          <a:p>
            <a:pPr indent="0" marL="0">
              <a:buNone/>
            </a:pPr>
            <a:r>
              <a:rPr lang="en-US" sz="900" dirty="0">
                <a:solidFill>
                  <a:srgbClr val="11A8C5"/>
                </a:solidFill>
              </a:rPr>
              <a:t>▶</a:t>
            </a:r>
            <a:endParaRPr lang="en-US" sz="900" dirty="0"/>
          </a:p>
        </p:txBody>
      </p:sp>
      <p:sp>
        <p:nvSpPr>
          <p:cNvPr id="26" name="Shape 24"/>
          <p:cNvSpPr/>
          <p:nvPr/>
        </p:nvSpPr>
        <p:spPr>
          <a:xfrm>
            <a:off x="5806440" y="1188720"/>
            <a:ext cx="1554480" cy="347472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27" name="Text 25"/>
          <p:cNvSpPr/>
          <p:nvPr/>
        </p:nvSpPr>
        <p:spPr>
          <a:xfrm>
            <a:off x="5806440" y="1280160"/>
            <a:ext cx="1554480" cy="502920"/>
          </a:xfrm>
          <a:prstGeom prst="rect">
            <a:avLst/>
          </a:prstGeom>
          <a:noFill/>
          <a:ln/>
        </p:spPr>
        <p:txBody>
          <a:bodyPr wrap="square" lIns="0" tIns="0" rIns="0" bIns="0" rtlCol="0" anchor="ctr"/>
          <a:lstStyle/>
          <a:p>
            <a:pPr algn="ctr" indent="0" marL="0">
              <a:buNone/>
            </a:pPr>
            <a:r>
              <a:rPr lang="en-US" sz="2800" b="1" dirty="0">
                <a:solidFill>
                  <a:srgbClr val="11A8C5"/>
                </a:solidFill>
              </a:rPr>
              <a:t>04</a:t>
            </a:r>
            <a:endParaRPr lang="en-US" sz="2800" dirty="0"/>
          </a:p>
        </p:txBody>
      </p:sp>
      <p:sp>
        <p:nvSpPr>
          <p:cNvPr id="28" name="Text 26"/>
          <p:cNvSpPr/>
          <p:nvPr/>
        </p:nvSpPr>
        <p:spPr>
          <a:xfrm>
            <a:off x="5870448" y="1828800"/>
            <a:ext cx="142646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Evaluación</a:t>
            </a:r>
            <a:endParaRPr lang="en-US" sz="1300" dirty="0"/>
          </a:p>
        </p:txBody>
      </p:sp>
      <p:sp>
        <p:nvSpPr>
          <p:cNvPr id="29" name="Text 27"/>
          <p:cNvSpPr/>
          <p:nvPr/>
        </p:nvSpPr>
        <p:spPr>
          <a:xfrm>
            <a:off x="5870448" y="2395728"/>
            <a:ext cx="1426464" cy="173736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Métricas de clasificación y regresión</a:t>
            </a:r>
            <a:endParaRPr lang="en-US" sz="1000" dirty="0"/>
          </a:p>
        </p:txBody>
      </p:sp>
      <p:sp>
        <p:nvSpPr>
          <p:cNvPr id="30" name="Shape 28"/>
          <p:cNvSpPr/>
          <p:nvPr/>
        </p:nvSpPr>
        <p:spPr>
          <a:xfrm>
            <a:off x="7452360" y="1188720"/>
            <a:ext cx="1554480" cy="347472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31" name="Text 29"/>
          <p:cNvSpPr/>
          <p:nvPr/>
        </p:nvSpPr>
        <p:spPr>
          <a:xfrm>
            <a:off x="7452360" y="1280160"/>
            <a:ext cx="1554480" cy="502920"/>
          </a:xfrm>
          <a:prstGeom prst="rect">
            <a:avLst/>
          </a:prstGeom>
          <a:noFill/>
          <a:ln/>
        </p:spPr>
        <p:txBody>
          <a:bodyPr wrap="square" lIns="0" tIns="0" rIns="0" bIns="0" rtlCol="0" anchor="ctr"/>
          <a:lstStyle/>
          <a:p>
            <a:pPr algn="ctr" indent="0" marL="0">
              <a:buNone/>
            </a:pPr>
            <a:r>
              <a:rPr lang="en-US" sz="2800" b="1" dirty="0">
                <a:solidFill>
                  <a:srgbClr val="11A8C5"/>
                </a:solidFill>
              </a:rPr>
              <a:t>05</a:t>
            </a:r>
            <a:endParaRPr lang="en-US" sz="2800" dirty="0"/>
          </a:p>
        </p:txBody>
      </p:sp>
      <p:sp>
        <p:nvSpPr>
          <p:cNvPr id="32" name="Text 30"/>
          <p:cNvSpPr/>
          <p:nvPr/>
        </p:nvSpPr>
        <p:spPr>
          <a:xfrm>
            <a:off x="7516368" y="1828800"/>
            <a:ext cx="1426464"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Análisis Crítico</a:t>
            </a:r>
            <a:endParaRPr lang="en-US" sz="1300" dirty="0"/>
          </a:p>
        </p:txBody>
      </p:sp>
      <p:sp>
        <p:nvSpPr>
          <p:cNvPr id="33" name="Text 31"/>
          <p:cNvSpPr/>
          <p:nvPr/>
        </p:nvSpPr>
        <p:spPr>
          <a:xfrm>
            <a:off x="7516368" y="2395728"/>
            <a:ext cx="1426464" cy="173736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Comparación · Interpretabilidad · Limitaciones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1371600"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1371600" cy="256032"/>
          </a:xfrm>
          <a:prstGeom prst="rect">
            <a:avLst/>
          </a:prstGeom>
          <a:noFill/>
          <a:ln/>
        </p:spPr>
        <p:txBody>
          <a:bodyPr wrap="square" lIns="0" tIns="0" rIns="0" bIns="0" rtlCol="0" anchor="ctr"/>
          <a:lstStyle/>
          <a:p>
            <a:pPr algn="ctr" indent="0" marL="0">
              <a:buNone/>
            </a:pPr>
            <a:r>
              <a:rPr lang="en-US" sz="800" b="1" dirty="0">
                <a:solidFill>
                  <a:srgbClr val="021526"/>
                </a:solidFill>
              </a:rPr>
              <a:t>SIMULACIÓN</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Dataset Sintético — Sistema Fotovoltaico</a:t>
            </a:r>
            <a:endParaRPr lang="en-US" sz="2400" dirty="0"/>
          </a:p>
        </p:txBody>
      </p:sp>
      <p:sp>
        <p:nvSpPr>
          <p:cNvPr id="6" name="Shape 4"/>
          <p:cNvSpPr/>
          <p:nvPr/>
        </p:nvSpPr>
        <p:spPr>
          <a:xfrm>
            <a:off x="274320" y="1097280"/>
            <a:ext cx="4114800" cy="35661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411480" y="1188720"/>
            <a:ext cx="3840480" cy="320040"/>
          </a:xfrm>
          <a:prstGeom prst="rect">
            <a:avLst/>
          </a:prstGeom>
          <a:noFill/>
          <a:ln/>
        </p:spPr>
        <p:txBody>
          <a:bodyPr wrap="square" lIns="0" tIns="0" rIns="0" bIns="0" rtlCol="0" anchor="ctr"/>
          <a:lstStyle/>
          <a:p>
            <a:pPr indent="0" marL="0">
              <a:buNone/>
            </a:pPr>
            <a:r>
              <a:rPr lang="en-US" sz="1300" b="1" dirty="0">
                <a:solidFill>
                  <a:srgbClr val="11A8C5"/>
                </a:solidFill>
                <a:latin typeface="Calibri" pitchFamily="34" charset="0"/>
                <a:ea typeface="Calibri" pitchFamily="34" charset="-122"/>
                <a:cs typeface="Calibri" pitchFamily="34" charset="-120"/>
              </a:rPr>
              <a:t>Modelos Físicos</a:t>
            </a:r>
            <a:endParaRPr lang="en-US" sz="1300" dirty="0"/>
          </a:p>
        </p:txBody>
      </p:sp>
      <p:sp>
        <p:nvSpPr>
          <p:cNvPr id="8" name="Text 6"/>
          <p:cNvSpPr/>
          <p:nvPr/>
        </p:nvSpPr>
        <p:spPr>
          <a:xfrm>
            <a:off x="411480" y="1627632"/>
            <a:ext cx="3840480" cy="256032"/>
          </a:xfrm>
          <a:prstGeom prst="rect">
            <a:avLst/>
          </a:prstGeom>
          <a:noFill/>
          <a:ln/>
        </p:spPr>
        <p:txBody>
          <a:bodyPr wrap="square" lIns="0" tIns="0" rIns="0" bIns="0" rtlCol="0" anchor="ctr"/>
          <a:lstStyle/>
          <a:p>
            <a:pPr indent="0" marL="0">
              <a:buNone/>
            </a:pPr>
            <a:r>
              <a:rPr lang="en-US" sz="1100" b="1" dirty="0">
                <a:solidFill>
                  <a:srgbClr val="F4C430"/>
                </a:solidFill>
                <a:latin typeface="Calibri" pitchFamily="34" charset="0"/>
                <a:ea typeface="Calibri" pitchFamily="34" charset="-122"/>
                <a:cs typeface="Calibri" pitchFamily="34" charset="-120"/>
              </a:rPr>
              <a:t>Irradiancia</a:t>
            </a:r>
            <a:endParaRPr lang="en-US" sz="1100" dirty="0"/>
          </a:p>
        </p:txBody>
      </p:sp>
      <p:sp>
        <p:nvSpPr>
          <p:cNvPr id="9" name="Text 7"/>
          <p:cNvSpPr/>
          <p:nvPr/>
        </p:nvSpPr>
        <p:spPr>
          <a:xfrm>
            <a:off x="411480" y="1865376"/>
            <a:ext cx="3840480" cy="438912"/>
          </a:xfrm>
          <a:prstGeom prst="rect">
            <a:avLst/>
          </a:prstGeom>
          <a:noFill/>
          <a:ln/>
        </p:spPr>
        <p:txBody>
          <a:bodyPr wrap="square" lIns="0" tIns="0" rIns="0" bIns="0" rtlCol="0" anchor="ctr"/>
          <a:lstStyle/>
          <a:p>
            <a:pPr indent="0" marL="0">
              <a:buNone/>
            </a:pPr>
            <a:r>
              <a:rPr lang="en-US" sz="1000" dirty="0">
                <a:solidFill>
                  <a:srgbClr val="E8F4F8"/>
                </a:solidFill>
                <a:latin typeface="Consolas" pitchFamily="34" charset="0"/>
                <a:ea typeface="Consolas" pitchFamily="34" charset="-122"/>
                <a:cs typeface="Consolas" pitchFamily="34" charset="-120"/>
              </a:rPr>
              <a:t>G(t,d) = Gmax·[1+0.1·sin(2π(d-80)/365)]·sin(π(t-6)/14) + εG</a:t>
            </a:r>
            <a:endParaRPr lang="en-US" sz="1000" dirty="0"/>
          </a:p>
        </p:txBody>
      </p:sp>
      <p:sp>
        <p:nvSpPr>
          <p:cNvPr id="10" name="Text 8"/>
          <p:cNvSpPr/>
          <p:nvPr/>
        </p:nvSpPr>
        <p:spPr>
          <a:xfrm>
            <a:off x="411480" y="2450592"/>
            <a:ext cx="3840480" cy="256032"/>
          </a:xfrm>
          <a:prstGeom prst="rect">
            <a:avLst/>
          </a:prstGeom>
          <a:noFill/>
          <a:ln/>
        </p:spPr>
        <p:txBody>
          <a:bodyPr wrap="square" lIns="0" tIns="0" rIns="0" bIns="0" rtlCol="0" anchor="ctr"/>
          <a:lstStyle/>
          <a:p>
            <a:pPr indent="0" marL="0">
              <a:buNone/>
            </a:pPr>
            <a:r>
              <a:rPr lang="en-US" sz="1100" b="1" dirty="0">
                <a:solidFill>
                  <a:srgbClr val="F4C430"/>
                </a:solidFill>
                <a:latin typeface="Calibri" pitchFamily="34" charset="0"/>
                <a:ea typeface="Calibri" pitchFamily="34" charset="-122"/>
                <a:cs typeface="Calibri" pitchFamily="34" charset="-120"/>
              </a:rPr>
              <a:t>Temp. Panel</a:t>
            </a:r>
            <a:endParaRPr lang="en-US" sz="1100" dirty="0"/>
          </a:p>
        </p:txBody>
      </p:sp>
      <p:sp>
        <p:nvSpPr>
          <p:cNvPr id="11" name="Text 9"/>
          <p:cNvSpPr/>
          <p:nvPr/>
        </p:nvSpPr>
        <p:spPr>
          <a:xfrm>
            <a:off x="411480" y="2688336"/>
            <a:ext cx="3840480" cy="438912"/>
          </a:xfrm>
          <a:prstGeom prst="rect">
            <a:avLst/>
          </a:prstGeom>
          <a:noFill/>
          <a:ln/>
        </p:spPr>
        <p:txBody>
          <a:bodyPr wrap="square" lIns="0" tIns="0" rIns="0" bIns="0" rtlCol="0" anchor="ctr"/>
          <a:lstStyle/>
          <a:p>
            <a:pPr indent="0" marL="0">
              <a:buNone/>
            </a:pPr>
            <a:r>
              <a:rPr lang="en-US" sz="1000" dirty="0">
                <a:solidFill>
                  <a:srgbClr val="E8F4F8"/>
                </a:solidFill>
                <a:latin typeface="Consolas" pitchFamily="34" charset="0"/>
                <a:ea typeface="Consolas" pitchFamily="34" charset="-122"/>
                <a:cs typeface="Consolas" pitchFamily="34" charset="-120"/>
              </a:rPr>
              <a:t>Tpanel = Tamb + (NOCT-20)/800 · G + εT</a:t>
            </a:r>
            <a:endParaRPr lang="en-US" sz="1000" dirty="0"/>
          </a:p>
        </p:txBody>
      </p:sp>
      <p:sp>
        <p:nvSpPr>
          <p:cNvPr id="12" name="Text 10"/>
          <p:cNvSpPr/>
          <p:nvPr/>
        </p:nvSpPr>
        <p:spPr>
          <a:xfrm>
            <a:off x="411480" y="3273552"/>
            <a:ext cx="3840480" cy="256032"/>
          </a:xfrm>
          <a:prstGeom prst="rect">
            <a:avLst/>
          </a:prstGeom>
          <a:noFill/>
          <a:ln/>
        </p:spPr>
        <p:txBody>
          <a:bodyPr wrap="square" lIns="0" tIns="0" rIns="0" bIns="0" rtlCol="0" anchor="ctr"/>
          <a:lstStyle/>
          <a:p>
            <a:pPr indent="0" marL="0">
              <a:buNone/>
            </a:pPr>
            <a:r>
              <a:rPr lang="en-US" sz="1100" b="1" dirty="0">
                <a:solidFill>
                  <a:srgbClr val="F4C430"/>
                </a:solidFill>
                <a:latin typeface="Calibri" pitchFamily="34" charset="0"/>
                <a:ea typeface="Calibri" pitchFamily="34" charset="-122"/>
                <a:cs typeface="Calibri" pitchFamily="34" charset="-120"/>
              </a:rPr>
              <a:t>Potencia</a:t>
            </a:r>
            <a:endParaRPr lang="en-US" sz="1100" dirty="0"/>
          </a:p>
        </p:txBody>
      </p:sp>
      <p:sp>
        <p:nvSpPr>
          <p:cNvPr id="13" name="Text 11"/>
          <p:cNvSpPr/>
          <p:nvPr/>
        </p:nvSpPr>
        <p:spPr>
          <a:xfrm>
            <a:off x="411480" y="3511296"/>
            <a:ext cx="3840480" cy="438912"/>
          </a:xfrm>
          <a:prstGeom prst="rect">
            <a:avLst/>
          </a:prstGeom>
          <a:noFill/>
          <a:ln/>
        </p:spPr>
        <p:txBody>
          <a:bodyPr wrap="square" lIns="0" tIns="0" rIns="0" bIns="0" rtlCol="0" anchor="ctr"/>
          <a:lstStyle/>
          <a:p>
            <a:pPr indent="0" marL="0">
              <a:buNone/>
            </a:pPr>
            <a:r>
              <a:rPr lang="en-US" sz="1000" dirty="0">
                <a:solidFill>
                  <a:srgbClr val="E8F4F8"/>
                </a:solidFill>
                <a:latin typeface="Consolas" pitchFamily="34" charset="0"/>
                <a:ea typeface="Consolas" pitchFamily="34" charset="-122"/>
                <a:cs typeface="Consolas" pitchFamily="34" charset="-120"/>
              </a:rPr>
              <a:t>P = η · A · Geff · [1+γ(Tpanel-25)] · ffalla + εP</a:t>
            </a:r>
            <a:endParaRPr lang="en-US" sz="1000" dirty="0"/>
          </a:p>
        </p:txBody>
      </p:sp>
      <p:sp>
        <p:nvSpPr>
          <p:cNvPr id="14" name="Text 12"/>
          <p:cNvSpPr/>
          <p:nvPr/>
        </p:nvSpPr>
        <p:spPr>
          <a:xfrm>
            <a:off x="411480" y="4206240"/>
            <a:ext cx="3840480" cy="292608"/>
          </a:xfrm>
          <a:prstGeom prst="rect">
            <a:avLst/>
          </a:prstGeom>
          <a:noFill/>
          <a:ln/>
        </p:spPr>
        <p:txBody>
          <a:bodyPr wrap="square" lIns="0" tIns="0" rIns="0" bIns="0" rtlCol="0" anchor="ctr"/>
          <a:lstStyle/>
          <a:p>
            <a:pPr indent="0" marL="0">
              <a:buNone/>
            </a:pPr>
            <a:r>
              <a:rPr lang="en-US" sz="950" dirty="0">
                <a:solidFill>
                  <a:srgbClr val="B0C4CC"/>
                </a:solidFill>
                <a:latin typeface="Calibri" pitchFamily="34" charset="0"/>
                <a:ea typeface="Calibri" pitchFamily="34" charset="-122"/>
                <a:cs typeface="Calibri" pitchFamily="34" charset="-120"/>
              </a:rPr>
              <a:t>η=0.18  ·  A=20 m²  ·  NOCT=45°C  ·  γ=-0.004/°C  ·  n=5000 muestras</a:t>
            </a:r>
            <a:endParaRPr lang="en-US" sz="950" dirty="0"/>
          </a:p>
        </p:txBody>
      </p:sp>
      <p:pic>
        <p:nvPicPr>
          <p:cNvPr id="15" name="Image 0" descr="/home/claude/parcial_ia/distribucion_clases.png">    </p:cNvPr>
          <p:cNvPicPr>
            <a:picLocks noChangeAspect="1"/>
          </p:cNvPicPr>
          <p:nvPr/>
        </p:nvPicPr>
        <p:blipFill>
          <a:blip r:embed="rId1"/>
          <a:stretch>
            <a:fillRect/>
          </a:stretch>
        </p:blipFill>
        <p:spPr>
          <a:xfrm>
            <a:off x="4572000" y="1097280"/>
            <a:ext cx="4297680" cy="356616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1975104"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1975104" cy="256032"/>
          </a:xfrm>
          <a:prstGeom prst="rect">
            <a:avLst/>
          </a:prstGeom>
          <a:noFill/>
          <a:ln/>
        </p:spPr>
        <p:txBody>
          <a:bodyPr wrap="square" lIns="0" tIns="0" rIns="0" bIns="0" rtlCol="0" anchor="ctr"/>
          <a:lstStyle/>
          <a:p>
            <a:pPr algn="ctr" indent="0" marL="0">
              <a:buNone/>
            </a:pPr>
            <a:r>
              <a:rPr lang="en-US" sz="800" b="1" dirty="0">
                <a:solidFill>
                  <a:srgbClr val="021526"/>
                </a:solidFill>
              </a:rPr>
              <a:t>PREPROCESAMIENTO</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Prevención de Fuga · Escalado · División</a:t>
            </a:r>
            <a:endParaRPr lang="en-US" sz="2400" dirty="0"/>
          </a:p>
        </p:txBody>
      </p:sp>
      <p:sp>
        <p:nvSpPr>
          <p:cNvPr id="6" name="Shape 4"/>
          <p:cNvSpPr/>
          <p:nvPr/>
        </p:nvSpPr>
        <p:spPr>
          <a:xfrm>
            <a:off x="256032" y="1143000"/>
            <a:ext cx="2788920" cy="361188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7" name="Shape 5"/>
          <p:cNvSpPr/>
          <p:nvPr/>
        </p:nvSpPr>
        <p:spPr>
          <a:xfrm>
            <a:off x="256032" y="1143000"/>
            <a:ext cx="2788920" cy="54864"/>
          </a:xfrm>
          <a:prstGeom prst="rect">
            <a:avLst/>
          </a:prstGeom>
          <a:solidFill>
            <a:srgbClr val="E84855"/>
          </a:solidFill>
          <a:ln w="12700">
            <a:solidFill>
              <a:srgbClr val="E84855"/>
            </a:solidFill>
            <a:prstDash val="solid"/>
          </a:ln>
        </p:spPr>
      </p:sp>
      <p:sp>
        <p:nvSpPr>
          <p:cNvPr id="8" name="Text 6"/>
          <p:cNvSpPr/>
          <p:nvPr/>
        </p:nvSpPr>
        <p:spPr>
          <a:xfrm>
            <a:off x="347472" y="1234440"/>
            <a:ext cx="2606040" cy="347472"/>
          </a:xfrm>
          <a:prstGeom prst="rect">
            <a:avLst/>
          </a:prstGeom>
          <a:noFill/>
          <a:ln/>
        </p:spPr>
        <p:txBody>
          <a:bodyPr wrap="square" lIns="0" tIns="0" rIns="0" bIns="0" rtlCol="0" anchor="ctr"/>
          <a:lstStyle/>
          <a:p>
            <a:pPr indent="0" marL="0">
              <a:buNone/>
            </a:pPr>
            <a:r>
              <a:rPr lang="en-US" sz="1200" b="1" dirty="0">
                <a:solidFill>
                  <a:srgbClr val="E84855"/>
                </a:solidFill>
                <a:latin typeface="Calibri" pitchFamily="34" charset="0"/>
                <a:ea typeface="Calibri" pitchFamily="34" charset="-122"/>
                <a:cs typeface="Calibri" pitchFamily="34" charset="-120"/>
              </a:rPr>
              <a:t>Fuga de Información</a:t>
            </a:r>
            <a:endParaRPr lang="en-US" sz="1200" dirty="0"/>
          </a:p>
        </p:txBody>
      </p:sp>
      <p:sp>
        <p:nvSpPr>
          <p:cNvPr id="9" name="Text 7"/>
          <p:cNvSpPr/>
          <p:nvPr/>
        </p:nvSpPr>
        <p:spPr>
          <a:xfrm>
            <a:off x="347472" y="1627632"/>
            <a:ext cx="2606040" cy="292608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CLASIFICACIÓN excluye:</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condition (es la etiqueta)</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power_W (dependencia cruzada)</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REGRESIÓN excluye:</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power_W, condition</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voltage_V, current_A</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(P ≈ V · I trivial)</a:t>
            </a:r>
            <a:endParaRPr lang="en-US" sz="1050" dirty="0"/>
          </a:p>
        </p:txBody>
      </p:sp>
      <p:sp>
        <p:nvSpPr>
          <p:cNvPr id="10" name="Shape 8"/>
          <p:cNvSpPr/>
          <p:nvPr/>
        </p:nvSpPr>
        <p:spPr>
          <a:xfrm>
            <a:off x="3227832" y="1143000"/>
            <a:ext cx="2788920" cy="361188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1" name="Shape 9"/>
          <p:cNvSpPr/>
          <p:nvPr/>
        </p:nvSpPr>
        <p:spPr>
          <a:xfrm>
            <a:off x="3227832" y="1143000"/>
            <a:ext cx="2788920" cy="54864"/>
          </a:xfrm>
          <a:prstGeom prst="rect">
            <a:avLst/>
          </a:prstGeom>
          <a:solidFill>
            <a:srgbClr val="11A8C5"/>
          </a:solidFill>
          <a:ln w="12700">
            <a:solidFill>
              <a:srgbClr val="11A8C5"/>
            </a:solidFill>
            <a:prstDash val="solid"/>
          </a:ln>
        </p:spPr>
      </p:sp>
      <p:sp>
        <p:nvSpPr>
          <p:cNvPr id="12" name="Text 10"/>
          <p:cNvSpPr/>
          <p:nvPr/>
        </p:nvSpPr>
        <p:spPr>
          <a:xfrm>
            <a:off x="3319272" y="1234440"/>
            <a:ext cx="2606040" cy="347472"/>
          </a:xfrm>
          <a:prstGeom prst="rect">
            <a:avLst/>
          </a:prstGeom>
          <a:noFill/>
          <a:ln/>
        </p:spPr>
        <p:txBody>
          <a:bodyPr wrap="square" lIns="0" tIns="0" rIns="0" bIns="0" rtlCol="0" anchor="ctr"/>
          <a:lstStyle/>
          <a:p>
            <a:pPr indent="0" marL="0">
              <a:buNone/>
            </a:pPr>
            <a:r>
              <a:rPr lang="en-US" sz="1200" b="1" dirty="0">
                <a:solidFill>
                  <a:srgbClr val="11A8C5"/>
                </a:solidFill>
                <a:latin typeface="Calibri" pitchFamily="34" charset="0"/>
                <a:ea typeface="Calibri" pitchFamily="34" charset="-122"/>
                <a:cs typeface="Calibri" pitchFamily="34" charset="-120"/>
              </a:rPr>
              <a:t>División 80 / 20</a:t>
            </a:r>
            <a:endParaRPr lang="en-US" sz="1200" dirty="0"/>
          </a:p>
        </p:txBody>
      </p:sp>
      <p:sp>
        <p:nvSpPr>
          <p:cNvPr id="13" name="Text 11"/>
          <p:cNvSpPr/>
          <p:nvPr/>
        </p:nvSpPr>
        <p:spPr>
          <a:xfrm>
            <a:off x="3319272" y="1627632"/>
            <a:ext cx="2606040" cy="292608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Entrenamiento:  4 000 muestras</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Prueba:         1 000 muestras</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Clasificación:</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Partición ESTRATIFICADA</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preserva distribución de clases</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Regresión:</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KFold estándar (5 folds)</a:t>
            </a:r>
            <a:endParaRPr lang="en-US" sz="1050" dirty="0"/>
          </a:p>
        </p:txBody>
      </p:sp>
      <p:sp>
        <p:nvSpPr>
          <p:cNvPr id="14" name="Shape 12"/>
          <p:cNvSpPr/>
          <p:nvPr/>
        </p:nvSpPr>
        <p:spPr>
          <a:xfrm>
            <a:off x="6199632" y="1143000"/>
            <a:ext cx="2788920" cy="361188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6199632" y="1143000"/>
            <a:ext cx="2788920" cy="54864"/>
          </a:xfrm>
          <a:prstGeom prst="rect">
            <a:avLst/>
          </a:prstGeom>
          <a:solidFill>
            <a:srgbClr val="F4C430"/>
          </a:solidFill>
          <a:ln w="12700">
            <a:solidFill>
              <a:srgbClr val="F4C430"/>
            </a:solidFill>
            <a:prstDash val="solid"/>
          </a:ln>
        </p:spPr>
      </p:sp>
      <p:sp>
        <p:nvSpPr>
          <p:cNvPr id="16" name="Text 14"/>
          <p:cNvSpPr/>
          <p:nvPr/>
        </p:nvSpPr>
        <p:spPr>
          <a:xfrm>
            <a:off x="6291072" y="1234440"/>
            <a:ext cx="2606040" cy="347472"/>
          </a:xfrm>
          <a:prstGeom prst="rect">
            <a:avLst/>
          </a:prstGeom>
          <a:noFill/>
          <a:ln/>
        </p:spPr>
        <p:txBody>
          <a:bodyPr wrap="square" lIns="0" tIns="0" rIns="0" bIns="0" rtlCol="0" anchor="ctr"/>
          <a:lstStyle/>
          <a:p>
            <a:pPr indent="0" marL="0">
              <a:buNone/>
            </a:pPr>
            <a:r>
              <a:rPr lang="en-US" sz="1200" b="1" dirty="0">
                <a:solidFill>
                  <a:srgbClr val="F4C430"/>
                </a:solidFill>
                <a:latin typeface="Calibri" pitchFamily="34" charset="0"/>
                <a:ea typeface="Calibri" pitchFamily="34" charset="-122"/>
                <a:cs typeface="Calibri" pitchFamily="34" charset="-120"/>
              </a:rPr>
              <a:t>Escalado de Variables</a:t>
            </a:r>
            <a:endParaRPr lang="en-US" sz="1200" dirty="0"/>
          </a:p>
        </p:txBody>
      </p:sp>
      <p:sp>
        <p:nvSpPr>
          <p:cNvPr id="17" name="Text 15"/>
          <p:cNvSpPr/>
          <p:nvPr/>
        </p:nvSpPr>
        <p:spPr>
          <a:xfrm>
            <a:off x="6291072" y="1627632"/>
            <a:ext cx="2606040" cy="292608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StandardScaler obligatorio</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para SVM y SVR:</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x' = (x − μ) / σ</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Ajuste SOLO en train,</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aplicado sin reajuste en test.</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Random Forest: NO requiere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1673352"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1673352" cy="256032"/>
          </a:xfrm>
          <a:prstGeom prst="rect">
            <a:avLst/>
          </a:prstGeom>
          <a:noFill/>
          <a:ln/>
        </p:spPr>
        <p:txBody>
          <a:bodyPr wrap="square" lIns="0" tIns="0" rIns="0" bIns="0" rtlCol="0" anchor="ctr"/>
          <a:lstStyle/>
          <a:p>
            <a:pPr algn="ctr" indent="0" marL="0">
              <a:buNone/>
            </a:pPr>
            <a:r>
              <a:rPr lang="en-US" sz="800" b="1" dirty="0">
                <a:solidFill>
                  <a:srgbClr val="021526"/>
                </a:solidFill>
              </a:rPr>
              <a:t>ENTRENAMIENTO</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Modelos · Kernel RBF · Hiperparámetros</a:t>
            </a:r>
            <a:endParaRPr lang="en-US" sz="2400" dirty="0"/>
          </a:p>
        </p:txBody>
      </p:sp>
      <p:sp>
        <p:nvSpPr>
          <p:cNvPr id="6" name="Shape 4"/>
          <p:cNvSpPr/>
          <p:nvPr/>
        </p:nvSpPr>
        <p:spPr>
          <a:xfrm>
            <a:off x="274320" y="1097280"/>
            <a:ext cx="3474720" cy="182880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411480" y="1188720"/>
            <a:ext cx="3200400" cy="292608"/>
          </a:xfrm>
          <a:prstGeom prst="rect">
            <a:avLst/>
          </a:prstGeom>
          <a:noFill/>
          <a:ln/>
        </p:spPr>
        <p:txBody>
          <a:bodyPr wrap="square" lIns="0" tIns="0" rIns="0" bIns="0" rtlCol="0" anchor="ctr"/>
          <a:lstStyle/>
          <a:p>
            <a:pPr indent="0" marL="0">
              <a:buNone/>
            </a:pPr>
            <a:r>
              <a:rPr lang="en-US" sz="1200" b="1" dirty="0">
                <a:solidFill>
                  <a:srgbClr val="11A8C5"/>
                </a:solidFill>
                <a:latin typeface="Calibri" pitchFamily="34" charset="0"/>
                <a:ea typeface="Calibri" pitchFamily="34" charset="-122"/>
                <a:cs typeface="Calibri" pitchFamily="34" charset="-120"/>
              </a:rPr>
              <a:t>Kernel RBF — ¿Por qué?</a:t>
            </a:r>
            <a:endParaRPr lang="en-US" sz="1200" dirty="0"/>
          </a:p>
        </p:txBody>
      </p:sp>
      <p:sp>
        <p:nvSpPr>
          <p:cNvPr id="8" name="Text 6"/>
          <p:cNvSpPr/>
          <p:nvPr/>
        </p:nvSpPr>
        <p:spPr>
          <a:xfrm>
            <a:off x="411480" y="1517904"/>
            <a:ext cx="3200400" cy="128016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K(xi, xj) = exp(−γ ‖xi − xj‖²)</a:t>
            </a:r>
            <a:endParaRPr lang="en-US" sz="1050" dirty="0"/>
          </a:p>
          <a:p>
            <a:pPr indent="0" marL="0">
              <a:buNone/>
            </a:pP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Relaciones no lineales en datos PV</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Proyecta a espacio Hilbert ∞-dim</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γ controla radio de influencia</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 Más robusto que lineal o polinomial</a:t>
            </a:r>
            <a:endParaRPr lang="en-US" sz="1050" dirty="0"/>
          </a:p>
        </p:txBody>
      </p:sp>
      <p:sp>
        <p:nvSpPr>
          <p:cNvPr id="9" name="Shape 7"/>
          <p:cNvSpPr/>
          <p:nvPr/>
        </p:nvSpPr>
        <p:spPr>
          <a:xfrm>
            <a:off x="3931920" y="1097280"/>
            <a:ext cx="4937760" cy="182880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0" name="Text 8"/>
          <p:cNvSpPr/>
          <p:nvPr/>
        </p:nvSpPr>
        <p:spPr>
          <a:xfrm>
            <a:off x="4069080" y="1188720"/>
            <a:ext cx="4663440" cy="292608"/>
          </a:xfrm>
          <a:prstGeom prst="rect">
            <a:avLst/>
          </a:prstGeom>
          <a:noFill/>
          <a:ln/>
        </p:spPr>
        <p:txBody>
          <a:bodyPr wrap="square" lIns="0" tIns="0" rIns="0" bIns="0" rtlCol="0" anchor="ctr"/>
          <a:lstStyle/>
          <a:p>
            <a:pPr indent="0" marL="0">
              <a:buNone/>
            </a:pPr>
            <a:r>
              <a:rPr lang="en-US" sz="1200" b="1" dirty="0">
                <a:solidFill>
                  <a:srgbClr val="F4C430"/>
                </a:solidFill>
                <a:latin typeface="Calibri" pitchFamily="34" charset="0"/>
                <a:ea typeface="Calibri" pitchFamily="34" charset="-122"/>
                <a:cs typeface="Calibri" pitchFamily="34" charset="-120"/>
              </a:rPr>
              <a:t>RandomizedSearchCV</a:t>
            </a:r>
            <a:endParaRPr lang="en-US" sz="1200" dirty="0"/>
          </a:p>
        </p:txBody>
      </p:sp>
      <p:sp>
        <p:nvSpPr>
          <p:cNvPr id="11" name="Text 9"/>
          <p:cNvSpPr/>
          <p:nvPr/>
        </p:nvSpPr>
        <p:spPr>
          <a:xfrm>
            <a:off x="4069080" y="1499616"/>
            <a:ext cx="4663440" cy="274320"/>
          </a:xfrm>
          <a:prstGeom prst="rect">
            <a:avLst/>
          </a:prstGeom>
          <a:noFill/>
          <a:ln/>
        </p:spPr>
        <p:txBody>
          <a:bodyPr wrap="square" lIns="0" tIns="0" rIns="0" bIns="0" rtlCol="0" anchor="ctr"/>
          <a:lstStyle/>
          <a:p>
            <a:pPr indent="0" marL="0">
              <a:buNone/>
            </a:pPr>
            <a:r>
              <a:rPr lang="en-US" sz="1000" dirty="0">
                <a:solidFill>
                  <a:srgbClr val="B0C4CC"/>
                </a:solidFill>
                <a:latin typeface="Calibri" pitchFamily="34" charset="0"/>
                <a:ea typeface="Calibri" pitchFamily="34" charset="-122"/>
                <a:cs typeface="Calibri" pitchFamily="34" charset="-120"/>
              </a:rPr>
              <a:t>8 iteraciones · CV = 5 folds · Estratificado (CLF) · KFold (REG)</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3035808"/>
          <a:ext cx="8595360" cy="1783080"/>
        </p:xfrm>
        <a:graphic>
          <a:graphicData uri="http://schemas.openxmlformats.org/drawingml/2006/table">
            <a:tbl>
              <a:tblPr/>
              <a:tblGrid>
                <a:gridCol w="1097280"/>
                <a:gridCol w="7498080"/>
              </a:tblGrid>
              <a:tr h="35661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Modelo</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65A8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Mejores hiperparámetros</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65A82"/>
                    </a:solidFill>
                  </a:tcPr>
                </a:tc>
              </a:tr>
              <a:tr h="356616">
                <a:tc>
                  <a:txBody>
                    <a:bodyPr/>
                    <a:lstStyle/>
                    <a:p>
                      <a:pPr indent="0" marL="0">
                        <a:buNone/>
                      </a:pPr>
                      <a:r>
                        <a:rPr lang="en-US" sz="1050" b="1" dirty="0">
                          <a:solidFill>
                            <a:srgbClr val="2E86AB"/>
                          </a:solidFill>
                          <a:latin typeface="Calibri" pitchFamily="34" charset="0"/>
                          <a:ea typeface="Calibri" pitchFamily="34" charset="-122"/>
                          <a:cs typeface="Calibri" pitchFamily="34" charset="-120"/>
                        </a:rPr>
                        <a:t>RFC</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c>
                  <a:txBody>
                    <a:bodyPr/>
                    <a:lstStyle/>
                    <a:p>
                      <a:pPr indent="0" marL="0">
                        <a:buNone/>
                      </a:pPr>
                      <a:r>
                        <a:rPr lang="en-US" sz="1050" dirty="0">
                          <a:solidFill>
                            <a:srgbClr val="E8F4F8"/>
                          </a:solidFill>
                          <a:latin typeface="Calibri" pitchFamily="34" charset="0"/>
                          <a:ea typeface="Calibri" pitchFamily="34" charset="-122"/>
                          <a:cs typeface="Calibri" pitchFamily="34" charset="-120"/>
                        </a:rPr>
                        <a:t>n_estimators=300 · max_depth=20 · min_samples_split=2 · max_features=sqrt</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r>
              <a:tr h="356616">
                <a:tc>
                  <a:txBody>
                    <a:bodyPr/>
                    <a:lstStyle/>
                    <a:p>
                      <a:pPr indent="0" marL="0">
                        <a:buNone/>
                      </a:pPr>
                      <a:r>
                        <a:rPr lang="en-US" sz="1050" b="1" dirty="0">
                          <a:solidFill>
                            <a:srgbClr val="E84855"/>
                          </a:solidFill>
                          <a:latin typeface="Calibri" pitchFamily="34" charset="0"/>
                          <a:ea typeface="Calibri" pitchFamily="34" charset="-122"/>
                          <a:cs typeface="Calibri" pitchFamily="34" charset="-120"/>
                        </a:rPr>
                        <a:t>SVC</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c>
                  <a:txBody>
                    <a:bodyPr/>
                    <a:lstStyle/>
                    <a:p>
                      <a:pPr indent="0" marL="0">
                        <a:buNone/>
                      </a:pPr>
                      <a:r>
                        <a:rPr lang="en-US" sz="1050" dirty="0">
                          <a:solidFill>
                            <a:srgbClr val="E8F4F8"/>
                          </a:solidFill>
                          <a:latin typeface="Calibri" pitchFamily="34" charset="0"/>
                          <a:ea typeface="Calibri" pitchFamily="34" charset="-122"/>
                          <a:cs typeface="Calibri" pitchFamily="34" charset="-120"/>
                        </a:rPr>
                        <a:t>C=100.0 · gamma=auto · kernel=rbf</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r>
              <a:tr h="356616">
                <a:tc>
                  <a:txBody>
                    <a:bodyPr/>
                    <a:lstStyle/>
                    <a:p>
                      <a:pPr indent="0" marL="0">
                        <a:buNone/>
                      </a:pPr>
                      <a:r>
                        <a:rPr lang="en-US" sz="1050" b="1" dirty="0">
                          <a:solidFill>
                            <a:srgbClr val="2E86AB"/>
                          </a:solidFill>
                          <a:latin typeface="Calibri" pitchFamily="34" charset="0"/>
                          <a:ea typeface="Calibri" pitchFamily="34" charset="-122"/>
                          <a:cs typeface="Calibri" pitchFamily="34" charset="-120"/>
                        </a:rPr>
                        <a:t>RFR</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c>
                  <a:txBody>
                    <a:bodyPr/>
                    <a:lstStyle/>
                    <a:p>
                      <a:pPr indent="0" marL="0">
                        <a:buNone/>
                      </a:pPr>
                      <a:r>
                        <a:rPr lang="en-US" sz="1050" dirty="0">
                          <a:solidFill>
                            <a:srgbClr val="E8F4F8"/>
                          </a:solidFill>
                          <a:latin typeface="Calibri" pitchFamily="34" charset="0"/>
                          <a:ea typeface="Calibri" pitchFamily="34" charset="-122"/>
                          <a:cs typeface="Calibri" pitchFamily="34" charset="-120"/>
                        </a:rPr>
                        <a:t>n_estimators=200 · max_depth=10 · min_samples_split=5 · max_features=sqrt</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r>
              <a:tr h="356616">
                <a:tc>
                  <a:txBody>
                    <a:bodyPr/>
                    <a:lstStyle/>
                    <a:p>
                      <a:pPr indent="0" marL="0">
                        <a:buNone/>
                      </a:pPr>
                      <a:r>
                        <a:rPr lang="en-US" sz="1050" b="1" dirty="0">
                          <a:solidFill>
                            <a:srgbClr val="E84855"/>
                          </a:solidFill>
                          <a:latin typeface="Calibri" pitchFamily="34" charset="0"/>
                          <a:ea typeface="Calibri" pitchFamily="34" charset="-122"/>
                          <a:cs typeface="Calibri" pitchFamily="34" charset="-120"/>
                        </a:rPr>
                        <a:t>SVR</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c>
                  <a:txBody>
                    <a:bodyPr/>
                    <a:lstStyle/>
                    <a:p>
                      <a:pPr indent="0" marL="0">
                        <a:buNone/>
                      </a:pPr>
                      <a:r>
                        <a:rPr lang="en-US" sz="1050" dirty="0">
                          <a:solidFill>
                            <a:srgbClr val="E8F4F8"/>
                          </a:solidFill>
                          <a:latin typeface="Calibri" pitchFamily="34" charset="0"/>
                          <a:ea typeface="Calibri" pitchFamily="34" charset="-122"/>
                          <a:cs typeface="Calibri" pitchFamily="34" charset="-120"/>
                        </a:rPr>
                        <a:t>C=10.0 · gamma=scale · epsilon=1.0 · kernel=rbf</a:t>
                      </a:r>
                      <a:endParaRPr lang="en-US" sz="1050" dirty="0">
                        <a:latin typeface="Calibri" charset="0"/>
                        <a:ea typeface="Calibri" charset="0"/>
                        <a:cs typeface="Calibri" charset="0"/>
                      </a:endParaRPr>
                    </a:p>
                  </a:txBody>
                  <a:tcPr marL="91440" marR="91440" marT="45720" marB="45720">
                    <a:lnL w="6350" cap="flat" cmpd="sng" algn="ctr">
                      <a:solidFill>
                        <a:srgbClr val="065A82"/>
                      </a:solidFill>
                      <a:prstDash val="solid"/>
                      <a:round/>
                      <a:headEnd type="none" w="med" len="med"/>
                      <a:tailEnd type="none" w="med" len="med"/>
                    </a:lnL>
                    <a:lnR w="6350" cap="flat" cmpd="sng" algn="ctr">
                      <a:solidFill>
                        <a:srgbClr val="065A82"/>
                      </a:solidFill>
                      <a:prstDash val="solid"/>
                      <a:round/>
                      <a:headEnd type="none" w="med" len="med"/>
                      <a:tailEnd type="none" w="med" len="med"/>
                    </a:lnR>
                    <a:lnT w="6350" cap="flat" cmpd="sng" algn="ctr">
                      <a:solidFill>
                        <a:srgbClr val="065A82"/>
                      </a:solidFill>
                      <a:prstDash val="solid"/>
                      <a:round/>
                      <a:headEnd type="none" w="med" len="med"/>
                      <a:tailEnd type="none" w="med" len="med"/>
                    </a:lnT>
                    <a:lnB w="6350" cap="flat" cmpd="sng" algn="ctr">
                      <a:solidFill>
                        <a:srgbClr val="065A82"/>
                      </a:solidFill>
                      <a:prstDash val="solid"/>
                      <a:round/>
                      <a:headEnd type="none" w="med" len="med"/>
                      <a:tailEnd type="none" w="med" len="med"/>
                    </a:lnB>
                    <a:solidFill>
                      <a:srgbClr val="0D3550"/>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2980944"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2980944" cy="256032"/>
          </a:xfrm>
          <a:prstGeom prst="rect">
            <a:avLst/>
          </a:prstGeom>
          <a:noFill/>
          <a:ln/>
        </p:spPr>
        <p:txBody>
          <a:bodyPr wrap="square" lIns="0" tIns="0" rIns="0" bIns="0" rtlCol="0" anchor="ctr"/>
          <a:lstStyle/>
          <a:p>
            <a:pPr algn="ctr" indent="0" marL="0">
              <a:buNone/>
            </a:pPr>
            <a:r>
              <a:rPr lang="en-US" sz="800" b="1" dirty="0">
                <a:solidFill>
                  <a:srgbClr val="021526"/>
                </a:solidFill>
              </a:rPr>
              <a:t>EVALUACIÓN — CLASIFICACIÓN</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Diagnóstico de Condición Operativa</a:t>
            </a:r>
            <a:endParaRPr lang="en-US" sz="2400" dirty="0"/>
          </a:p>
        </p:txBody>
      </p:sp>
      <p:sp>
        <p:nvSpPr>
          <p:cNvPr id="6" name="Shape 4"/>
          <p:cNvSpPr/>
          <p:nvPr/>
        </p:nvSpPr>
        <p:spPr>
          <a:xfrm>
            <a:off x="274320" y="1078992"/>
            <a:ext cx="2029968" cy="10515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274320" y="1115568"/>
            <a:ext cx="2029968" cy="685800"/>
          </a:xfrm>
          <a:prstGeom prst="rect">
            <a:avLst/>
          </a:prstGeom>
          <a:noFill/>
          <a:ln/>
        </p:spPr>
        <p:txBody>
          <a:bodyPr wrap="square" lIns="0" tIns="0" rIns="0" bIns="0" rtlCol="0" anchor="ctr"/>
          <a:lstStyle/>
          <a:p>
            <a:pPr algn="ctr" indent="0" marL="0">
              <a:buNone/>
            </a:pPr>
            <a:r>
              <a:rPr lang="en-US" sz="3800" b="1" dirty="0">
                <a:solidFill>
                  <a:srgbClr val="2E86AB"/>
                </a:solidFill>
                <a:latin typeface="Calibri" pitchFamily="34" charset="0"/>
                <a:ea typeface="Calibri" pitchFamily="34" charset="-122"/>
                <a:cs typeface="Calibri" pitchFamily="34" charset="-120"/>
              </a:rPr>
              <a:t>0.892</a:t>
            </a:r>
            <a:endParaRPr lang="en-US" sz="3800" dirty="0"/>
          </a:p>
        </p:txBody>
      </p:sp>
      <p:sp>
        <p:nvSpPr>
          <p:cNvPr id="8" name="Text 6"/>
          <p:cNvSpPr/>
          <p:nvPr/>
        </p:nvSpPr>
        <p:spPr>
          <a:xfrm>
            <a:off x="274320" y="1773936"/>
            <a:ext cx="2029968" cy="27432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RFC Accuracy</a:t>
            </a:r>
            <a:endParaRPr lang="en-US" sz="1000" dirty="0"/>
          </a:p>
        </p:txBody>
      </p:sp>
      <p:sp>
        <p:nvSpPr>
          <p:cNvPr id="9" name="Shape 7"/>
          <p:cNvSpPr/>
          <p:nvPr/>
        </p:nvSpPr>
        <p:spPr>
          <a:xfrm>
            <a:off x="2487168" y="1078992"/>
            <a:ext cx="2029968" cy="10515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0" name="Text 8"/>
          <p:cNvSpPr/>
          <p:nvPr/>
        </p:nvSpPr>
        <p:spPr>
          <a:xfrm>
            <a:off x="2487168" y="1115568"/>
            <a:ext cx="2029968" cy="685800"/>
          </a:xfrm>
          <a:prstGeom prst="rect">
            <a:avLst/>
          </a:prstGeom>
          <a:noFill/>
          <a:ln/>
        </p:spPr>
        <p:txBody>
          <a:bodyPr wrap="square" lIns="0" tIns="0" rIns="0" bIns="0" rtlCol="0" anchor="ctr"/>
          <a:lstStyle/>
          <a:p>
            <a:pPr algn="ctr" indent="0" marL="0">
              <a:buNone/>
            </a:pPr>
            <a:r>
              <a:rPr lang="en-US" sz="3800" b="1" dirty="0">
                <a:solidFill>
                  <a:srgbClr val="E84855"/>
                </a:solidFill>
                <a:latin typeface="Calibri" pitchFamily="34" charset="0"/>
                <a:ea typeface="Calibri" pitchFamily="34" charset="-122"/>
                <a:cs typeface="Calibri" pitchFamily="34" charset="-120"/>
              </a:rPr>
              <a:t>0.925</a:t>
            </a:r>
            <a:endParaRPr lang="en-US" sz="3800" dirty="0"/>
          </a:p>
        </p:txBody>
      </p:sp>
      <p:sp>
        <p:nvSpPr>
          <p:cNvPr id="11" name="Text 9"/>
          <p:cNvSpPr/>
          <p:nvPr/>
        </p:nvSpPr>
        <p:spPr>
          <a:xfrm>
            <a:off x="2487168" y="1773936"/>
            <a:ext cx="2029968" cy="27432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SVC Accuracy</a:t>
            </a:r>
            <a:endParaRPr lang="en-US" sz="1000" dirty="0"/>
          </a:p>
        </p:txBody>
      </p:sp>
      <p:sp>
        <p:nvSpPr>
          <p:cNvPr id="12" name="Shape 10"/>
          <p:cNvSpPr/>
          <p:nvPr/>
        </p:nvSpPr>
        <p:spPr>
          <a:xfrm>
            <a:off x="4700016" y="1078992"/>
            <a:ext cx="2029968" cy="10515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3" name="Text 11"/>
          <p:cNvSpPr/>
          <p:nvPr/>
        </p:nvSpPr>
        <p:spPr>
          <a:xfrm>
            <a:off x="4700016" y="1115568"/>
            <a:ext cx="2029968" cy="685800"/>
          </a:xfrm>
          <a:prstGeom prst="rect">
            <a:avLst/>
          </a:prstGeom>
          <a:noFill/>
          <a:ln/>
        </p:spPr>
        <p:txBody>
          <a:bodyPr wrap="square" lIns="0" tIns="0" rIns="0" bIns="0" rtlCol="0" anchor="ctr"/>
          <a:lstStyle/>
          <a:p>
            <a:pPr algn="ctr" indent="0" marL="0">
              <a:buNone/>
            </a:pPr>
            <a:r>
              <a:rPr lang="en-US" sz="3800" b="1" dirty="0">
                <a:solidFill>
                  <a:srgbClr val="F4C430"/>
                </a:solidFill>
                <a:latin typeface="Calibri" pitchFamily="34" charset="0"/>
                <a:ea typeface="Calibri" pitchFamily="34" charset="-122"/>
                <a:cs typeface="Calibri" pitchFamily="34" charset="-120"/>
              </a:rPr>
              <a:t>0.55</a:t>
            </a:r>
            <a:endParaRPr lang="en-US" sz="3800" dirty="0"/>
          </a:p>
        </p:txBody>
      </p:sp>
      <p:sp>
        <p:nvSpPr>
          <p:cNvPr id="14" name="Text 12"/>
          <p:cNvSpPr/>
          <p:nvPr/>
        </p:nvSpPr>
        <p:spPr>
          <a:xfrm>
            <a:off x="4700016" y="1773936"/>
            <a:ext cx="2029968" cy="27432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RFC Recall Suciedad</a:t>
            </a:r>
            <a:endParaRPr lang="en-US" sz="1000" dirty="0"/>
          </a:p>
        </p:txBody>
      </p:sp>
      <p:sp>
        <p:nvSpPr>
          <p:cNvPr id="15" name="Shape 13"/>
          <p:cNvSpPr/>
          <p:nvPr/>
        </p:nvSpPr>
        <p:spPr>
          <a:xfrm>
            <a:off x="6912864" y="1078992"/>
            <a:ext cx="2029968" cy="10515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6" name="Text 14"/>
          <p:cNvSpPr/>
          <p:nvPr/>
        </p:nvSpPr>
        <p:spPr>
          <a:xfrm>
            <a:off x="6912864" y="1115568"/>
            <a:ext cx="2029968" cy="685800"/>
          </a:xfrm>
          <a:prstGeom prst="rect">
            <a:avLst/>
          </a:prstGeom>
          <a:noFill/>
          <a:ln/>
        </p:spPr>
        <p:txBody>
          <a:bodyPr wrap="square" lIns="0" tIns="0" rIns="0" bIns="0" rtlCol="0" anchor="ctr"/>
          <a:lstStyle/>
          <a:p>
            <a:pPr algn="ctr" indent="0" marL="0">
              <a:buNone/>
            </a:pPr>
            <a:r>
              <a:rPr lang="en-US" sz="3800" b="1" dirty="0">
                <a:solidFill>
                  <a:srgbClr val="F4C430"/>
                </a:solidFill>
                <a:latin typeface="Calibri" pitchFamily="34" charset="0"/>
                <a:ea typeface="Calibri" pitchFamily="34" charset="-122"/>
                <a:cs typeface="Calibri" pitchFamily="34" charset="-120"/>
              </a:rPr>
              <a:t>0.80</a:t>
            </a:r>
            <a:endParaRPr lang="en-US" sz="3800" dirty="0"/>
          </a:p>
        </p:txBody>
      </p:sp>
      <p:sp>
        <p:nvSpPr>
          <p:cNvPr id="17" name="Text 15"/>
          <p:cNvSpPr/>
          <p:nvPr/>
        </p:nvSpPr>
        <p:spPr>
          <a:xfrm>
            <a:off x="6912864" y="1773936"/>
            <a:ext cx="2029968" cy="27432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SVC Recall Suciedad</a:t>
            </a:r>
            <a:endParaRPr lang="en-US" sz="1000" dirty="0"/>
          </a:p>
        </p:txBody>
      </p:sp>
      <p:pic>
        <p:nvPicPr>
          <p:cNvPr id="18" name="Image 0" descr="/home/claude/parcial_ia/confusion_matrices.png">    </p:cNvPr>
          <p:cNvPicPr>
            <a:picLocks noChangeAspect="1"/>
          </p:cNvPicPr>
          <p:nvPr/>
        </p:nvPicPr>
        <p:blipFill>
          <a:blip r:embed="rId1"/>
          <a:stretch>
            <a:fillRect/>
          </a:stretch>
        </p:blipFill>
        <p:spPr>
          <a:xfrm>
            <a:off x="274320" y="2212848"/>
            <a:ext cx="8595360" cy="2651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2578608"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2578608" cy="256032"/>
          </a:xfrm>
          <a:prstGeom prst="rect">
            <a:avLst/>
          </a:prstGeom>
          <a:noFill/>
          <a:ln/>
        </p:spPr>
        <p:txBody>
          <a:bodyPr wrap="square" lIns="0" tIns="0" rIns="0" bIns="0" rtlCol="0" anchor="ctr"/>
          <a:lstStyle/>
          <a:p>
            <a:pPr algn="ctr" indent="0" marL="0">
              <a:buNone/>
            </a:pPr>
            <a:r>
              <a:rPr lang="en-US" sz="800" b="1" dirty="0">
                <a:solidFill>
                  <a:srgbClr val="021526"/>
                </a:solidFill>
              </a:rPr>
              <a:t>EVALUACIÓN — REGRESIÓN</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Predicción de Potencia Generada</a:t>
            </a:r>
            <a:endParaRPr lang="en-US" sz="2400" dirty="0"/>
          </a:p>
        </p:txBody>
      </p:sp>
      <p:sp>
        <p:nvSpPr>
          <p:cNvPr id="6" name="Shape 4"/>
          <p:cNvSpPr/>
          <p:nvPr/>
        </p:nvSpPr>
        <p:spPr>
          <a:xfrm>
            <a:off x="256032" y="1078992"/>
            <a:ext cx="1627632" cy="1024128"/>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256032" y="1115568"/>
            <a:ext cx="1627632" cy="548640"/>
          </a:xfrm>
          <a:prstGeom prst="rect">
            <a:avLst/>
          </a:prstGeom>
          <a:noFill/>
          <a:ln/>
        </p:spPr>
        <p:txBody>
          <a:bodyPr wrap="square" lIns="0" tIns="0" rIns="0" bIns="0" rtlCol="0" anchor="ctr"/>
          <a:lstStyle/>
          <a:p>
            <a:pPr algn="ctr" indent="0" marL="0">
              <a:buNone/>
            </a:pPr>
            <a:r>
              <a:rPr lang="en-US" sz="2600" b="1" dirty="0">
                <a:solidFill>
                  <a:srgbClr val="2E86AB"/>
                </a:solidFill>
              </a:rPr>
              <a:t>516 W</a:t>
            </a:r>
            <a:endParaRPr lang="en-US" sz="2600" dirty="0"/>
          </a:p>
        </p:txBody>
      </p:sp>
      <p:sp>
        <p:nvSpPr>
          <p:cNvPr id="8" name="Text 6"/>
          <p:cNvSpPr/>
          <p:nvPr/>
        </p:nvSpPr>
        <p:spPr>
          <a:xfrm>
            <a:off x="256032" y="1645920"/>
            <a:ext cx="1627632" cy="256032"/>
          </a:xfrm>
          <a:prstGeom prst="rect">
            <a:avLst/>
          </a:prstGeom>
          <a:noFill/>
          <a:ln/>
        </p:spPr>
        <p:txBody>
          <a:bodyPr wrap="square" lIns="0" tIns="0" rIns="0" bIns="0" rtlCol="0" anchor="ctr"/>
          <a:lstStyle/>
          <a:p>
            <a:pPr algn="ctr" indent="0" marL="0">
              <a:buNone/>
            </a:pPr>
            <a:r>
              <a:rPr lang="en-US" sz="1000" dirty="0">
                <a:solidFill>
                  <a:srgbClr val="B0C4CC"/>
                </a:solidFill>
              </a:rPr>
              <a:t>RFR MAE</a:t>
            </a:r>
            <a:endParaRPr lang="en-US" sz="1000" dirty="0"/>
          </a:p>
        </p:txBody>
      </p:sp>
      <p:sp>
        <p:nvSpPr>
          <p:cNvPr id="9" name="Shape 7"/>
          <p:cNvSpPr/>
          <p:nvPr/>
        </p:nvSpPr>
        <p:spPr>
          <a:xfrm>
            <a:off x="1993392" y="1078992"/>
            <a:ext cx="1627632" cy="1024128"/>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0" name="Text 8"/>
          <p:cNvSpPr/>
          <p:nvPr/>
        </p:nvSpPr>
        <p:spPr>
          <a:xfrm>
            <a:off x="1993392" y="1115568"/>
            <a:ext cx="1627632" cy="548640"/>
          </a:xfrm>
          <a:prstGeom prst="rect">
            <a:avLst/>
          </a:prstGeom>
          <a:noFill/>
          <a:ln/>
        </p:spPr>
        <p:txBody>
          <a:bodyPr wrap="square" lIns="0" tIns="0" rIns="0" bIns="0" rtlCol="0" anchor="ctr"/>
          <a:lstStyle/>
          <a:p>
            <a:pPr algn="ctr" indent="0" marL="0">
              <a:buNone/>
            </a:pPr>
            <a:r>
              <a:rPr lang="en-US" sz="2600" b="1" dirty="0">
                <a:solidFill>
                  <a:srgbClr val="2E86AB"/>
                </a:solidFill>
              </a:rPr>
              <a:t>674 W</a:t>
            </a:r>
            <a:endParaRPr lang="en-US" sz="2600" dirty="0"/>
          </a:p>
        </p:txBody>
      </p:sp>
      <p:sp>
        <p:nvSpPr>
          <p:cNvPr id="11" name="Text 9"/>
          <p:cNvSpPr/>
          <p:nvPr/>
        </p:nvSpPr>
        <p:spPr>
          <a:xfrm>
            <a:off x="1993392" y="1645920"/>
            <a:ext cx="1627632" cy="256032"/>
          </a:xfrm>
          <a:prstGeom prst="rect">
            <a:avLst/>
          </a:prstGeom>
          <a:noFill/>
          <a:ln/>
        </p:spPr>
        <p:txBody>
          <a:bodyPr wrap="square" lIns="0" tIns="0" rIns="0" bIns="0" rtlCol="0" anchor="ctr"/>
          <a:lstStyle/>
          <a:p>
            <a:pPr algn="ctr" indent="0" marL="0">
              <a:buNone/>
            </a:pPr>
            <a:r>
              <a:rPr lang="en-US" sz="1000" dirty="0">
                <a:solidFill>
                  <a:srgbClr val="B0C4CC"/>
                </a:solidFill>
              </a:rPr>
              <a:t>RFR RMSE</a:t>
            </a:r>
            <a:endParaRPr lang="en-US" sz="1000" dirty="0"/>
          </a:p>
        </p:txBody>
      </p:sp>
      <p:sp>
        <p:nvSpPr>
          <p:cNvPr id="12" name="Shape 10"/>
          <p:cNvSpPr/>
          <p:nvPr/>
        </p:nvSpPr>
        <p:spPr>
          <a:xfrm>
            <a:off x="3730752" y="1078992"/>
            <a:ext cx="1627632" cy="1024128"/>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3" name="Text 11"/>
          <p:cNvSpPr/>
          <p:nvPr/>
        </p:nvSpPr>
        <p:spPr>
          <a:xfrm>
            <a:off x="3730752" y="1115568"/>
            <a:ext cx="1627632" cy="548640"/>
          </a:xfrm>
          <a:prstGeom prst="rect">
            <a:avLst/>
          </a:prstGeom>
          <a:noFill/>
          <a:ln/>
        </p:spPr>
        <p:txBody>
          <a:bodyPr wrap="square" lIns="0" tIns="0" rIns="0" bIns="0" rtlCol="0" anchor="ctr"/>
          <a:lstStyle/>
          <a:p>
            <a:pPr algn="ctr" indent="0" marL="0">
              <a:buNone/>
            </a:pPr>
            <a:r>
              <a:rPr lang="en-US" sz="2600" b="1" dirty="0">
                <a:solidFill>
                  <a:srgbClr val="F4C430"/>
                </a:solidFill>
              </a:rPr>
              <a:t>0.513</a:t>
            </a:r>
            <a:endParaRPr lang="en-US" sz="2600" dirty="0"/>
          </a:p>
        </p:txBody>
      </p:sp>
      <p:sp>
        <p:nvSpPr>
          <p:cNvPr id="14" name="Text 12"/>
          <p:cNvSpPr/>
          <p:nvPr/>
        </p:nvSpPr>
        <p:spPr>
          <a:xfrm>
            <a:off x="3730752" y="1645920"/>
            <a:ext cx="1627632" cy="256032"/>
          </a:xfrm>
          <a:prstGeom prst="rect">
            <a:avLst/>
          </a:prstGeom>
          <a:noFill/>
          <a:ln/>
        </p:spPr>
        <p:txBody>
          <a:bodyPr wrap="square" lIns="0" tIns="0" rIns="0" bIns="0" rtlCol="0" anchor="ctr"/>
          <a:lstStyle/>
          <a:p>
            <a:pPr algn="ctr" indent="0" marL="0">
              <a:buNone/>
            </a:pPr>
            <a:r>
              <a:rPr lang="en-US" sz="1000" dirty="0">
                <a:solidFill>
                  <a:srgbClr val="B0C4CC"/>
                </a:solidFill>
              </a:rPr>
              <a:t>RFR R²</a:t>
            </a:r>
            <a:endParaRPr lang="en-US" sz="1000" dirty="0"/>
          </a:p>
        </p:txBody>
      </p:sp>
      <p:sp>
        <p:nvSpPr>
          <p:cNvPr id="15" name="Shape 13"/>
          <p:cNvSpPr/>
          <p:nvPr/>
        </p:nvSpPr>
        <p:spPr>
          <a:xfrm>
            <a:off x="5468112" y="1078992"/>
            <a:ext cx="1627632" cy="1024128"/>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6" name="Text 14"/>
          <p:cNvSpPr/>
          <p:nvPr/>
        </p:nvSpPr>
        <p:spPr>
          <a:xfrm>
            <a:off x="5468112" y="1115568"/>
            <a:ext cx="1627632" cy="548640"/>
          </a:xfrm>
          <a:prstGeom prst="rect">
            <a:avLst/>
          </a:prstGeom>
          <a:noFill/>
          <a:ln/>
        </p:spPr>
        <p:txBody>
          <a:bodyPr wrap="square" lIns="0" tIns="0" rIns="0" bIns="0" rtlCol="0" anchor="ctr"/>
          <a:lstStyle/>
          <a:p>
            <a:pPr algn="ctr" indent="0" marL="0">
              <a:buNone/>
            </a:pPr>
            <a:r>
              <a:rPr lang="en-US" sz="2600" b="1" dirty="0">
                <a:solidFill>
                  <a:srgbClr val="E84855"/>
                </a:solidFill>
              </a:rPr>
              <a:t>702 W</a:t>
            </a:r>
            <a:endParaRPr lang="en-US" sz="2600" dirty="0"/>
          </a:p>
        </p:txBody>
      </p:sp>
      <p:sp>
        <p:nvSpPr>
          <p:cNvPr id="17" name="Text 15"/>
          <p:cNvSpPr/>
          <p:nvPr/>
        </p:nvSpPr>
        <p:spPr>
          <a:xfrm>
            <a:off x="5468112" y="1645920"/>
            <a:ext cx="1627632" cy="256032"/>
          </a:xfrm>
          <a:prstGeom prst="rect">
            <a:avLst/>
          </a:prstGeom>
          <a:noFill/>
          <a:ln/>
        </p:spPr>
        <p:txBody>
          <a:bodyPr wrap="square" lIns="0" tIns="0" rIns="0" bIns="0" rtlCol="0" anchor="ctr"/>
          <a:lstStyle/>
          <a:p>
            <a:pPr algn="ctr" indent="0" marL="0">
              <a:buNone/>
            </a:pPr>
            <a:r>
              <a:rPr lang="en-US" sz="1000" dirty="0">
                <a:solidFill>
                  <a:srgbClr val="B0C4CC"/>
                </a:solidFill>
              </a:rPr>
              <a:t>SVR RMSE</a:t>
            </a:r>
            <a:endParaRPr lang="en-US" sz="1000" dirty="0"/>
          </a:p>
        </p:txBody>
      </p:sp>
      <p:sp>
        <p:nvSpPr>
          <p:cNvPr id="18" name="Shape 16"/>
          <p:cNvSpPr/>
          <p:nvPr/>
        </p:nvSpPr>
        <p:spPr>
          <a:xfrm>
            <a:off x="7205472" y="1078992"/>
            <a:ext cx="1627632" cy="1024128"/>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9" name="Text 17"/>
          <p:cNvSpPr/>
          <p:nvPr/>
        </p:nvSpPr>
        <p:spPr>
          <a:xfrm>
            <a:off x="7205472" y="1115568"/>
            <a:ext cx="1627632" cy="548640"/>
          </a:xfrm>
          <a:prstGeom prst="rect">
            <a:avLst/>
          </a:prstGeom>
          <a:noFill/>
          <a:ln/>
        </p:spPr>
        <p:txBody>
          <a:bodyPr wrap="square" lIns="0" tIns="0" rIns="0" bIns="0" rtlCol="0" anchor="ctr"/>
          <a:lstStyle/>
          <a:p>
            <a:pPr algn="ctr" indent="0" marL="0">
              <a:buNone/>
            </a:pPr>
            <a:r>
              <a:rPr lang="en-US" sz="2600" b="1" dirty="0">
                <a:solidFill>
                  <a:srgbClr val="E84855"/>
                </a:solidFill>
              </a:rPr>
              <a:t>0.471</a:t>
            </a:r>
            <a:endParaRPr lang="en-US" sz="2600" dirty="0"/>
          </a:p>
        </p:txBody>
      </p:sp>
      <p:sp>
        <p:nvSpPr>
          <p:cNvPr id="20" name="Text 18"/>
          <p:cNvSpPr/>
          <p:nvPr/>
        </p:nvSpPr>
        <p:spPr>
          <a:xfrm>
            <a:off x="7205472" y="1645920"/>
            <a:ext cx="1627632" cy="256032"/>
          </a:xfrm>
          <a:prstGeom prst="rect">
            <a:avLst/>
          </a:prstGeom>
          <a:noFill/>
          <a:ln/>
        </p:spPr>
        <p:txBody>
          <a:bodyPr wrap="square" lIns="0" tIns="0" rIns="0" bIns="0" rtlCol="0" anchor="ctr"/>
          <a:lstStyle/>
          <a:p>
            <a:pPr algn="ctr" indent="0" marL="0">
              <a:buNone/>
            </a:pPr>
            <a:r>
              <a:rPr lang="en-US" sz="1000" dirty="0">
                <a:solidFill>
                  <a:srgbClr val="B0C4CC"/>
                </a:solidFill>
              </a:rPr>
              <a:t>SVR R²</a:t>
            </a:r>
            <a:endParaRPr lang="en-US" sz="1000" dirty="0"/>
          </a:p>
        </p:txBody>
      </p:sp>
      <p:pic>
        <p:nvPicPr>
          <p:cNvPr id="21" name="Image 0" descr="/home/claude/parcial_ia/regresion_comparativo.png">    </p:cNvPr>
          <p:cNvPicPr>
            <a:picLocks noChangeAspect="1"/>
          </p:cNvPicPr>
          <p:nvPr/>
        </p:nvPicPr>
        <p:blipFill>
          <a:blip r:embed="rId1"/>
          <a:stretch>
            <a:fillRect/>
          </a:stretch>
        </p:blipFill>
        <p:spPr>
          <a:xfrm>
            <a:off x="274320" y="2212848"/>
            <a:ext cx="8595360" cy="26517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1975104"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1975104" cy="256032"/>
          </a:xfrm>
          <a:prstGeom prst="rect">
            <a:avLst/>
          </a:prstGeom>
          <a:noFill/>
          <a:ln/>
        </p:spPr>
        <p:txBody>
          <a:bodyPr wrap="square" lIns="0" tIns="0" rIns="0" bIns="0" rtlCol="0" anchor="ctr"/>
          <a:lstStyle/>
          <a:p>
            <a:pPr algn="ctr" indent="0" marL="0">
              <a:buNone/>
            </a:pPr>
            <a:r>
              <a:rPr lang="en-US" sz="800" b="1" dirty="0">
                <a:solidFill>
                  <a:srgbClr val="021526"/>
                </a:solidFill>
              </a:rPr>
              <a:t>ANÁLISIS CRÍTICO</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Importancia de Variables — Random Forest</a:t>
            </a:r>
            <a:endParaRPr lang="en-US" sz="2400" dirty="0"/>
          </a:p>
        </p:txBody>
      </p:sp>
      <p:pic>
        <p:nvPicPr>
          <p:cNvPr id="6" name="Image 0" descr="/home/claude/parcial_ia/feature_importance_clf.png">    </p:cNvPr>
          <p:cNvPicPr>
            <a:picLocks noChangeAspect="1"/>
          </p:cNvPicPr>
          <p:nvPr/>
        </p:nvPicPr>
        <p:blipFill>
          <a:blip r:embed="rId1"/>
          <a:stretch>
            <a:fillRect/>
          </a:stretch>
        </p:blipFill>
        <p:spPr>
          <a:xfrm>
            <a:off x="228600" y="1097280"/>
            <a:ext cx="4389120" cy="2377440"/>
          </a:xfrm>
          <a:prstGeom prst="rect">
            <a:avLst/>
          </a:prstGeom>
        </p:spPr>
      </p:pic>
      <p:pic>
        <p:nvPicPr>
          <p:cNvPr id="7" name="Image 1" descr="/home/claude/parcial_ia/feature_importance_reg.png">    </p:cNvPr>
          <p:cNvPicPr>
            <a:picLocks noChangeAspect="1"/>
          </p:cNvPicPr>
          <p:nvPr/>
        </p:nvPicPr>
        <p:blipFill>
          <a:blip r:embed="rId2"/>
          <a:stretch>
            <a:fillRect/>
          </a:stretch>
        </p:blipFill>
        <p:spPr>
          <a:xfrm>
            <a:off x="4663440" y="1097280"/>
            <a:ext cx="4297680" cy="2377440"/>
          </a:xfrm>
          <a:prstGeom prst="rect">
            <a:avLst/>
          </a:prstGeom>
        </p:spPr>
      </p:pic>
      <p:sp>
        <p:nvSpPr>
          <p:cNvPr id="8" name="Shape 4"/>
          <p:cNvSpPr/>
          <p:nvPr/>
        </p:nvSpPr>
        <p:spPr>
          <a:xfrm>
            <a:off x="228600" y="3584448"/>
            <a:ext cx="4389120" cy="12801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9" name="Text 5"/>
          <p:cNvSpPr/>
          <p:nvPr/>
        </p:nvSpPr>
        <p:spPr>
          <a:xfrm>
            <a:off x="347472" y="3639312"/>
            <a:ext cx="4114800" cy="292608"/>
          </a:xfrm>
          <a:prstGeom prst="rect">
            <a:avLst/>
          </a:prstGeom>
          <a:noFill/>
          <a:ln/>
        </p:spPr>
        <p:txBody>
          <a:bodyPr wrap="square" lIns="0" tIns="0" rIns="0" bIns="0" rtlCol="0" anchor="ctr"/>
          <a:lstStyle/>
          <a:p>
            <a:pPr indent="0" marL="0">
              <a:buNone/>
            </a:pPr>
            <a:r>
              <a:rPr lang="en-US" sz="1100" b="1" dirty="0">
                <a:solidFill>
                  <a:srgbClr val="2E86AB"/>
                </a:solidFill>
              </a:rPr>
              <a:t>Clasificación</a:t>
            </a:r>
            <a:endParaRPr lang="en-US" sz="1100" dirty="0"/>
          </a:p>
        </p:txBody>
      </p:sp>
      <p:sp>
        <p:nvSpPr>
          <p:cNvPr id="10" name="Text 6"/>
          <p:cNvSpPr/>
          <p:nvPr/>
        </p:nvSpPr>
        <p:spPr>
          <a:xfrm>
            <a:off x="347472" y="3931920"/>
            <a:ext cx="4114800" cy="82296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current_A (0.387) e irradiance_W_m2 (0.195) dominan.</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Las fallas se manifiestan en parámetros eléctricos.</a:t>
            </a:r>
            <a:endParaRPr lang="en-US" sz="1050" dirty="0"/>
          </a:p>
        </p:txBody>
      </p:sp>
      <p:sp>
        <p:nvSpPr>
          <p:cNvPr id="11" name="Shape 7"/>
          <p:cNvSpPr/>
          <p:nvPr/>
        </p:nvSpPr>
        <p:spPr>
          <a:xfrm>
            <a:off x="4663440" y="3584448"/>
            <a:ext cx="4297680" cy="128016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2" name="Text 8"/>
          <p:cNvSpPr/>
          <p:nvPr/>
        </p:nvSpPr>
        <p:spPr>
          <a:xfrm>
            <a:off x="4773168" y="3639312"/>
            <a:ext cx="4023360" cy="292608"/>
          </a:xfrm>
          <a:prstGeom prst="rect">
            <a:avLst/>
          </a:prstGeom>
          <a:noFill/>
          <a:ln/>
        </p:spPr>
        <p:txBody>
          <a:bodyPr wrap="square" lIns="0" tIns="0" rIns="0" bIns="0" rtlCol="0" anchor="ctr"/>
          <a:lstStyle/>
          <a:p>
            <a:pPr indent="0" marL="0">
              <a:buNone/>
            </a:pPr>
            <a:r>
              <a:rPr lang="en-US" sz="1100" b="1" dirty="0">
                <a:solidFill>
                  <a:srgbClr val="F4C430"/>
                </a:solidFill>
              </a:rPr>
              <a:t>Regresión</a:t>
            </a:r>
            <a:endParaRPr lang="en-US" sz="1100" dirty="0"/>
          </a:p>
        </p:txBody>
      </p:sp>
      <p:sp>
        <p:nvSpPr>
          <p:cNvPr id="13" name="Text 9"/>
          <p:cNvSpPr/>
          <p:nvPr/>
        </p:nvSpPr>
        <p:spPr>
          <a:xfrm>
            <a:off x="4773168" y="3931920"/>
            <a:ext cx="4023360" cy="822960"/>
          </a:xfrm>
          <a:prstGeom prst="rect">
            <a:avLst/>
          </a:prstGeom>
          <a:noFill/>
          <a:ln/>
        </p:spPr>
        <p:txBody>
          <a:bodyPr wrap="square" lIns="0" tIns="0" rIns="0" bIns="0" rtlCol="0" anchor="ctr"/>
          <a:lstStyle/>
          <a:p>
            <a:pPr indent="0" marL="0">
              <a:buNone/>
            </a:pPr>
            <a:r>
              <a:rPr lang="en-US" sz="1050" dirty="0">
                <a:solidFill>
                  <a:srgbClr val="E8F4F8"/>
                </a:solidFill>
                <a:latin typeface="Calibri" pitchFamily="34" charset="0"/>
                <a:ea typeface="Calibri" pitchFamily="34" charset="-122"/>
                <a:cs typeface="Calibri" pitchFamily="34" charset="-120"/>
              </a:rPr>
              <a:t>irradiance_W_m2 (0.431) domina ampliamente.</a:t>
            </a:r>
            <a:endParaRPr lang="en-US" sz="1050" dirty="0"/>
          </a:p>
          <a:p>
            <a:pPr indent="0" marL="0">
              <a:buNone/>
            </a:pPr>
            <a:r>
              <a:rPr lang="en-US" sz="1050" dirty="0">
                <a:solidFill>
                  <a:srgbClr val="E8F4F8"/>
                </a:solidFill>
                <a:latin typeface="Calibri" pitchFamily="34" charset="0"/>
                <a:ea typeface="Calibri" pitchFamily="34" charset="-122"/>
                <a:cs typeface="Calibri" pitchFamily="34" charset="-120"/>
              </a:rPr>
              <a:t>Humedad y viento tienen importancia casi nula.</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11A8C5"/>
          </a:solidFill>
          <a:ln w="12700">
            <a:solidFill>
              <a:srgbClr val="11A8C5"/>
            </a:solidFill>
            <a:prstDash val="solid"/>
          </a:ln>
        </p:spPr>
      </p:sp>
      <p:sp>
        <p:nvSpPr>
          <p:cNvPr id="3" name="Shape 1"/>
          <p:cNvSpPr/>
          <p:nvPr/>
        </p:nvSpPr>
        <p:spPr>
          <a:xfrm>
            <a:off x="365760" y="164592"/>
            <a:ext cx="1975104" cy="256032"/>
          </a:xfrm>
          <a:prstGeom prst="rect">
            <a:avLst>
              <a:gd name="adj" fmla="val 17857"/>
            </a:avLst>
          </a:prstGeom>
          <a:solidFill>
            <a:srgbClr val="11A8C5"/>
          </a:solidFill>
          <a:ln w="12700">
            <a:solidFill>
              <a:srgbClr val="11A8C5"/>
            </a:solidFill>
            <a:prstDash val="solid"/>
          </a:ln>
        </p:spPr>
      </p:sp>
      <p:sp>
        <p:nvSpPr>
          <p:cNvPr id="4" name="Text 2"/>
          <p:cNvSpPr/>
          <p:nvPr/>
        </p:nvSpPr>
        <p:spPr>
          <a:xfrm>
            <a:off x="365760" y="164592"/>
            <a:ext cx="1975104" cy="256032"/>
          </a:xfrm>
          <a:prstGeom prst="rect">
            <a:avLst/>
          </a:prstGeom>
          <a:noFill/>
          <a:ln/>
        </p:spPr>
        <p:txBody>
          <a:bodyPr wrap="square" lIns="0" tIns="0" rIns="0" bIns="0" rtlCol="0" anchor="ctr"/>
          <a:lstStyle/>
          <a:p>
            <a:pPr algn="ctr" indent="0" marL="0">
              <a:buNone/>
            </a:pPr>
            <a:r>
              <a:rPr lang="en-US" sz="800" b="1" dirty="0">
                <a:solidFill>
                  <a:srgbClr val="021526"/>
                </a:solidFill>
              </a:rPr>
              <a:t>ANÁLISIS CRÍTICO</a:t>
            </a:r>
            <a:endParaRPr lang="en-US" sz="800" dirty="0"/>
          </a:p>
        </p:txBody>
      </p:sp>
      <p:sp>
        <p:nvSpPr>
          <p:cNvPr id="5" name="Text 3"/>
          <p:cNvSpPr/>
          <p:nvPr/>
        </p:nvSpPr>
        <p:spPr>
          <a:xfrm>
            <a:off x="365760" y="502920"/>
            <a:ext cx="8412480" cy="50292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Efecto del Escalado · Sensibilidad al Hiperparámetro C</a:t>
            </a:r>
            <a:endParaRPr lang="en-US" sz="2400" dirty="0"/>
          </a:p>
        </p:txBody>
      </p:sp>
      <p:sp>
        <p:nvSpPr>
          <p:cNvPr id="6" name="Shape 4"/>
          <p:cNvSpPr/>
          <p:nvPr/>
        </p:nvSpPr>
        <p:spPr>
          <a:xfrm>
            <a:off x="274320" y="1097280"/>
            <a:ext cx="4114800" cy="1371600"/>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7" name="Text 5"/>
          <p:cNvSpPr/>
          <p:nvPr/>
        </p:nvSpPr>
        <p:spPr>
          <a:xfrm>
            <a:off x="411480" y="1170432"/>
            <a:ext cx="3840480" cy="274320"/>
          </a:xfrm>
          <a:prstGeom prst="rect">
            <a:avLst/>
          </a:prstGeom>
          <a:noFill/>
          <a:ln/>
        </p:spPr>
        <p:txBody>
          <a:bodyPr wrap="square" lIns="0" tIns="0" rIns="0" bIns="0" rtlCol="0" anchor="ctr"/>
          <a:lstStyle/>
          <a:p>
            <a:pPr indent="0" marL="0">
              <a:buNone/>
            </a:pPr>
            <a:r>
              <a:rPr lang="en-US" sz="1100" b="1" dirty="0">
                <a:solidFill>
                  <a:srgbClr val="11A8C5"/>
                </a:solidFill>
              </a:rPr>
              <a:t>Efecto StandardScaler en SVM</a:t>
            </a:r>
            <a:endParaRPr lang="en-US" sz="1100" dirty="0"/>
          </a:p>
        </p:txBody>
      </p:sp>
      <p:sp>
        <p:nvSpPr>
          <p:cNvPr id="8" name="Text 6"/>
          <p:cNvSpPr/>
          <p:nvPr/>
        </p:nvSpPr>
        <p:spPr>
          <a:xfrm>
            <a:off x="411480" y="1481328"/>
            <a:ext cx="1828800" cy="256032"/>
          </a:xfrm>
          <a:prstGeom prst="rect">
            <a:avLst/>
          </a:prstGeom>
          <a:noFill/>
          <a:ln/>
        </p:spPr>
        <p:txBody>
          <a:bodyPr wrap="square" lIns="0" tIns="0" rIns="0" bIns="0" rtlCol="0" anchor="ctr"/>
          <a:lstStyle/>
          <a:p>
            <a:pPr indent="0" marL="0">
              <a:buNone/>
            </a:pPr>
            <a:r>
              <a:rPr lang="en-US" sz="1000" dirty="0">
                <a:solidFill>
                  <a:srgbClr val="E84855"/>
                </a:solidFill>
                <a:latin typeface="Calibri" pitchFamily="34" charset="0"/>
                <a:ea typeface="Calibri" pitchFamily="34" charset="-122"/>
                <a:cs typeface="Calibri" pitchFamily="34" charset="-120"/>
              </a:rPr>
              <a:t>SVC sin escalar  →  0.665</a:t>
            </a:r>
            <a:endParaRPr lang="en-US" sz="1000" dirty="0"/>
          </a:p>
        </p:txBody>
      </p:sp>
      <p:sp>
        <p:nvSpPr>
          <p:cNvPr id="9" name="Text 7"/>
          <p:cNvSpPr/>
          <p:nvPr/>
        </p:nvSpPr>
        <p:spPr>
          <a:xfrm>
            <a:off x="411480" y="1773936"/>
            <a:ext cx="1828800" cy="256032"/>
          </a:xfrm>
          <a:prstGeom prst="rect">
            <a:avLst/>
          </a:prstGeom>
          <a:noFill/>
          <a:ln/>
        </p:spPr>
        <p:txBody>
          <a:bodyPr wrap="square" lIns="0" tIns="0" rIns="0" bIns="0" rtlCol="0" anchor="ctr"/>
          <a:lstStyle/>
          <a:p>
            <a:pPr indent="0" marL="0">
              <a:buNone/>
            </a:pPr>
            <a:r>
              <a:rPr lang="en-US" sz="1000" b="1" dirty="0">
                <a:solidFill>
                  <a:srgbClr val="F4C430"/>
                </a:solidFill>
                <a:latin typeface="Calibri" pitchFamily="34" charset="0"/>
                <a:ea typeface="Calibri" pitchFamily="34" charset="-122"/>
                <a:cs typeface="Calibri" pitchFamily="34" charset="-120"/>
              </a:rPr>
              <a:t>SVC con scaler  →  0.925</a:t>
            </a:r>
            <a:endParaRPr lang="en-US" sz="1000" dirty="0"/>
          </a:p>
        </p:txBody>
      </p:sp>
      <p:sp>
        <p:nvSpPr>
          <p:cNvPr id="10" name="Text 8"/>
          <p:cNvSpPr/>
          <p:nvPr/>
        </p:nvSpPr>
        <p:spPr>
          <a:xfrm>
            <a:off x="2331720" y="1481328"/>
            <a:ext cx="1828800" cy="256032"/>
          </a:xfrm>
          <a:prstGeom prst="rect">
            <a:avLst/>
          </a:prstGeom>
          <a:noFill/>
          <a:ln/>
        </p:spPr>
        <p:txBody>
          <a:bodyPr wrap="square" lIns="0" tIns="0" rIns="0" bIns="0" rtlCol="0" anchor="ctr"/>
          <a:lstStyle/>
          <a:p>
            <a:pPr indent="0" marL="0">
              <a:buNone/>
            </a:pPr>
            <a:r>
              <a:rPr lang="en-US" sz="1000" dirty="0">
                <a:solidFill>
                  <a:srgbClr val="E84855"/>
                </a:solidFill>
                <a:latin typeface="Calibri" pitchFamily="34" charset="0"/>
                <a:ea typeface="Calibri" pitchFamily="34" charset="-122"/>
                <a:cs typeface="Calibri" pitchFamily="34" charset="-120"/>
              </a:rPr>
              <a:t>SVR sin escalar  →  R²=0.434</a:t>
            </a:r>
            <a:endParaRPr lang="en-US" sz="1000" dirty="0"/>
          </a:p>
        </p:txBody>
      </p:sp>
      <p:sp>
        <p:nvSpPr>
          <p:cNvPr id="11" name="Text 9"/>
          <p:cNvSpPr/>
          <p:nvPr/>
        </p:nvSpPr>
        <p:spPr>
          <a:xfrm>
            <a:off x="2331720" y="1773936"/>
            <a:ext cx="1828800" cy="256032"/>
          </a:xfrm>
          <a:prstGeom prst="rect">
            <a:avLst/>
          </a:prstGeom>
          <a:noFill/>
          <a:ln/>
        </p:spPr>
        <p:txBody>
          <a:bodyPr wrap="square" lIns="0" tIns="0" rIns="0" bIns="0" rtlCol="0" anchor="ctr"/>
          <a:lstStyle/>
          <a:p>
            <a:pPr indent="0" marL="0">
              <a:buNone/>
            </a:pPr>
            <a:r>
              <a:rPr lang="en-US" sz="1000" b="1" dirty="0">
                <a:solidFill>
                  <a:srgbClr val="F4C430"/>
                </a:solidFill>
                <a:latin typeface="Calibri" pitchFamily="34" charset="0"/>
                <a:ea typeface="Calibri" pitchFamily="34" charset="-122"/>
                <a:cs typeface="Calibri" pitchFamily="34" charset="-120"/>
              </a:rPr>
              <a:t>SVR con scaler  →  R²=0.471</a:t>
            </a:r>
            <a:endParaRPr lang="en-US" sz="1000" dirty="0"/>
          </a:p>
        </p:txBody>
      </p:sp>
      <p:pic>
        <p:nvPicPr>
          <p:cNvPr id="12" name="Image 0" descr="/home/claude/parcial_ia/sensibilidad_C.png">    </p:cNvPr>
          <p:cNvPicPr>
            <a:picLocks noChangeAspect="1"/>
          </p:cNvPicPr>
          <p:nvPr/>
        </p:nvPicPr>
        <p:blipFill>
          <a:blip r:embed="rId1"/>
          <a:stretch>
            <a:fillRect/>
          </a:stretch>
        </p:blipFill>
        <p:spPr>
          <a:xfrm>
            <a:off x="274320" y="2542032"/>
            <a:ext cx="4114800" cy="2286000"/>
          </a:xfrm>
          <a:prstGeom prst="rect">
            <a:avLst/>
          </a:prstGeom>
        </p:spPr>
      </p:pic>
      <p:pic>
        <p:nvPicPr>
          <p:cNvPr id="13" name="Image 1" descr="/home/claude/parcial_ia/validacion_cruzada.png">    </p:cNvPr>
          <p:cNvPicPr>
            <a:picLocks noChangeAspect="1"/>
          </p:cNvPicPr>
          <p:nvPr/>
        </p:nvPicPr>
        <p:blipFill>
          <a:blip r:embed="rId2"/>
          <a:stretch>
            <a:fillRect/>
          </a:stretch>
        </p:blipFill>
        <p:spPr>
          <a:xfrm>
            <a:off x="4572000" y="1097280"/>
            <a:ext cx="4297680" cy="3749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1526"/>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4C430"/>
          </a:solidFill>
          <a:ln w="12700">
            <a:solidFill>
              <a:srgbClr val="F4C430"/>
            </a:solidFill>
            <a:prstDash val="solid"/>
          </a:ln>
        </p:spPr>
      </p:sp>
      <p:sp>
        <p:nvSpPr>
          <p:cNvPr id="3" name="Text 1"/>
          <p:cNvSpPr/>
          <p:nvPr/>
        </p:nvSpPr>
        <p:spPr>
          <a:xfrm>
            <a:off x="365760" y="164592"/>
            <a:ext cx="8412480" cy="384048"/>
          </a:xfrm>
          <a:prstGeom prst="rect">
            <a:avLst/>
          </a:prstGeom>
          <a:noFill/>
          <a:ln/>
        </p:spPr>
        <p:txBody>
          <a:bodyPr wrap="square" lIns="0" tIns="0" rIns="0" bIns="0" rtlCol="0" anchor="ctr"/>
          <a:lstStyle/>
          <a:p>
            <a:pPr indent="0" marL="0">
              <a:buNone/>
            </a:pPr>
            <a:r>
              <a:rPr lang="en-US" sz="2200" b="1" dirty="0">
                <a:solidFill>
                  <a:srgbClr val="F4C430"/>
                </a:solidFill>
                <a:latin typeface="Calibri" pitchFamily="34" charset="0"/>
                <a:ea typeface="Calibri" pitchFamily="34" charset="-122"/>
                <a:cs typeface="Calibri" pitchFamily="34" charset="-120"/>
              </a:rPr>
              <a:t>Conclusiones</a:t>
            </a:r>
            <a:endParaRPr lang="en-US" sz="2200" dirty="0"/>
          </a:p>
        </p:txBody>
      </p:sp>
      <p:sp>
        <p:nvSpPr>
          <p:cNvPr id="4" name="Shape 2"/>
          <p:cNvSpPr/>
          <p:nvPr/>
        </p:nvSpPr>
        <p:spPr>
          <a:xfrm>
            <a:off x="256032" y="658368"/>
            <a:ext cx="8631936" cy="1353312"/>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5" name="Shape 3"/>
          <p:cNvSpPr/>
          <p:nvPr/>
        </p:nvSpPr>
        <p:spPr>
          <a:xfrm>
            <a:off x="256032" y="658368"/>
            <a:ext cx="64008" cy="1353312"/>
          </a:xfrm>
          <a:prstGeom prst="rect">
            <a:avLst/>
          </a:prstGeom>
          <a:solidFill>
            <a:srgbClr val="E84855"/>
          </a:solidFill>
          <a:ln w="12700">
            <a:solidFill>
              <a:srgbClr val="E84855"/>
            </a:solidFill>
            <a:prstDash val="solid"/>
          </a:ln>
        </p:spPr>
      </p:sp>
      <p:sp>
        <p:nvSpPr>
          <p:cNvPr id="6" name="Text 4"/>
          <p:cNvSpPr/>
          <p:nvPr/>
        </p:nvSpPr>
        <p:spPr>
          <a:xfrm>
            <a:off x="365760" y="694944"/>
            <a:ext cx="457200" cy="384048"/>
          </a:xfrm>
          <a:prstGeom prst="rect">
            <a:avLst/>
          </a:prstGeom>
          <a:noFill/>
          <a:ln/>
        </p:spPr>
        <p:txBody>
          <a:bodyPr wrap="square" lIns="0" tIns="0" rIns="0" bIns="0" rtlCol="0" anchor="ctr"/>
          <a:lstStyle/>
          <a:p>
            <a:pPr algn="ctr" indent="0" marL="0">
              <a:buNone/>
            </a:pPr>
            <a:r>
              <a:rPr lang="en-US" sz="2000" b="1" dirty="0">
                <a:solidFill>
                  <a:srgbClr val="E84855"/>
                </a:solidFill>
              </a:rPr>
              <a:t>01</a:t>
            </a:r>
            <a:endParaRPr lang="en-US" sz="2000" dirty="0"/>
          </a:p>
        </p:txBody>
      </p:sp>
      <p:sp>
        <p:nvSpPr>
          <p:cNvPr id="7" name="Text 5"/>
          <p:cNvSpPr/>
          <p:nvPr/>
        </p:nvSpPr>
        <p:spPr>
          <a:xfrm>
            <a:off x="868680" y="694944"/>
            <a:ext cx="7772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SVC gana en clasificación</a:t>
            </a:r>
            <a:endParaRPr lang="en-US" sz="1300" dirty="0"/>
          </a:p>
        </p:txBody>
      </p:sp>
      <p:sp>
        <p:nvSpPr>
          <p:cNvPr id="8" name="Text 6"/>
          <p:cNvSpPr/>
          <p:nvPr/>
        </p:nvSpPr>
        <p:spPr>
          <a:xfrm>
            <a:off x="868680" y="1060704"/>
            <a:ext cx="7818120" cy="822960"/>
          </a:xfrm>
          <a:prstGeom prst="rect">
            <a:avLst/>
          </a:prstGeom>
          <a:noFill/>
          <a:ln/>
        </p:spPr>
        <p:txBody>
          <a:bodyPr wrap="square" lIns="0" tIns="0" rIns="0" bIns="0" rtlCol="0" anchor="ctr"/>
          <a:lstStyle/>
          <a:p>
            <a:pPr indent="0" marL="0">
              <a:buNone/>
            </a:pPr>
            <a:r>
              <a:rPr lang="en-US" sz="1050" dirty="0">
                <a:solidFill>
                  <a:srgbClr val="B0C4CC"/>
                </a:solidFill>
                <a:latin typeface="Calibri" pitchFamily="34" charset="0"/>
                <a:ea typeface="Calibri" pitchFamily="34" charset="-122"/>
                <a:cs typeface="Calibri" pitchFamily="34" charset="-120"/>
              </a:rPr>
              <a:t>El SVC con kernel RBF (C=100) alcanzó accuracy 0.925 vs 0.892 del RFC. La brecha es más notable en la clase suciedad (recall 0.80 vs 0.55). El hiperplano en el espacio RBF captura mejor fronteras de decisión entre condiciones sutiles.</a:t>
            </a:r>
            <a:endParaRPr lang="en-US" sz="1050" dirty="0"/>
          </a:p>
        </p:txBody>
      </p:sp>
      <p:sp>
        <p:nvSpPr>
          <p:cNvPr id="9" name="Shape 7"/>
          <p:cNvSpPr/>
          <p:nvPr/>
        </p:nvSpPr>
        <p:spPr>
          <a:xfrm>
            <a:off x="256032" y="2103120"/>
            <a:ext cx="8631936" cy="1353312"/>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0" name="Shape 8"/>
          <p:cNvSpPr/>
          <p:nvPr/>
        </p:nvSpPr>
        <p:spPr>
          <a:xfrm>
            <a:off x="256032" y="2103120"/>
            <a:ext cx="64008" cy="1353312"/>
          </a:xfrm>
          <a:prstGeom prst="rect">
            <a:avLst/>
          </a:prstGeom>
          <a:solidFill>
            <a:srgbClr val="2E86AB"/>
          </a:solidFill>
          <a:ln w="12700">
            <a:solidFill>
              <a:srgbClr val="2E86AB"/>
            </a:solidFill>
            <a:prstDash val="solid"/>
          </a:ln>
        </p:spPr>
      </p:sp>
      <p:sp>
        <p:nvSpPr>
          <p:cNvPr id="11" name="Text 9"/>
          <p:cNvSpPr/>
          <p:nvPr/>
        </p:nvSpPr>
        <p:spPr>
          <a:xfrm>
            <a:off x="365760" y="2139696"/>
            <a:ext cx="457200" cy="384048"/>
          </a:xfrm>
          <a:prstGeom prst="rect">
            <a:avLst/>
          </a:prstGeom>
          <a:noFill/>
          <a:ln/>
        </p:spPr>
        <p:txBody>
          <a:bodyPr wrap="square" lIns="0" tIns="0" rIns="0" bIns="0" rtlCol="0" anchor="ctr"/>
          <a:lstStyle/>
          <a:p>
            <a:pPr algn="ctr" indent="0" marL="0">
              <a:buNone/>
            </a:pPr>
            <a:r>
              <a:rPr lang="en-US" sz="2000" b="1" dirty="0">
                <a:solidFill>
                  <a:srgbClr val="2E86AB"/>
                </a:solidFill>
              </a:rPr>
              <a:t>02</a:t>
            </a:r>
            <a:endParaRPr lang="en-US" sz="2000" dirty="0"/>
          </a:p>
        </p:txBody>
      </p:sp>
      <p:sp>
        <p:nvSpPr>
          <p:cNvPr id="12" name="Text 10"/>
          <p:cNvSpPr/>
          <p:nvPr/>
        </p:nvSpPr>
        <p:spPr>
          <a:xfrm>
            <a:off x="868680" y="2139696"/>
            <a:ext cx="7772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RFR gana en regresión — y el R²≈0.5 es correcto</a:t>
            </a:r>
            <a:endParaRPr lang="en-US" sz="1300" dirty="0"/>
          </a:p>
        </p:txBody>
      </p:sp>
      <p:sp>
        <p:nvSpPr>
          <p:cNvPr id="13" name="Text 11"/>
          <p:cNvSpPr/>
          <p:nvPr/>
        </p:nvSpPr>
        <p:spPr>
          <a:xfrm>
            <a:off x="868680" y="2505456"/>
            <a:ext cx="7818120" cy="822960"/>
          </a:xfrm>
          <a:prstGeom prst="rect">
            <a:avLst/>
          </a:prstGeom>
          <a:noFill/>
          <a:ln/>
        </p:spPr>
        <p:txBody>
          <a:bodyPr wrap="square" lIns="0" tIns="0" rIns="0" bIns="0" rtlCol="0" anchor="ctr"/>
          <a:lstStyle/>
          <a:p>
            <a:pPr indent="0" marL="0">
              <a:buNone/>
            </a:pPr>
            <a:r>
              <a:rPr lang="en-US" sz="1050" dirty="0">
                <a:solidFill>
                  <a:srgbClr val="B0C4CC"/>
                </a:solidFill>
                <a:latin typeface="Calibri" pitchFamily="34" charset="0"/>
                <a:ea typeface="Calibri" pitchFamily="34" charset="-122"/>
                <a:cs typeface="Calibri" pitchFamily="34" charset="-120"/>
              </a:rPr>
              <a:t>Random Forest Regressor superó al SVR en MAE, RMSE y R² (0.513 vs 0.471). Los valores moderados de R² son un resultado metodológicamente correcto: excluir voltaje y corriente elimina la predicción trivial P≈V·I y obliga a los modelos a aprender la física del sistema.</a:t>
            </a:r>
            <a:endParaRPr lang="en-US" sz="1050" dirty="0"/>
          </a:p>
        </p:txBody>
      </p:sp>
      <p:sp>
        <p:nvSpPr>
          <p:cNvPr id="14" name="Shape 12"/>
          <p:cNvSpPr/>
          <p:nvPr/>
        </p:nvSpPr>
        <p:spPr>
          <a:xfrm>
            <a:off x="256032" y="3547872"/>
            <a:ext cx="8631936" cy="1353312"/>
          </a:xfrm>
          <a:prstGeom prst="rect">
            <a:avLst/>
          </a:prstGeom>
          <a:solidFill>
            <a:srgbClr val="0A2A3F"/>
          </a:solidFill>
          <a:ln w="6350">
            <a:solidFill>
              <a:srgbClr val="11A8C5"/>
            </a:solidFill>
            <a:prstDash val="solid"/>
          </a:ln>
          <a:effectLst>
            <a:outerShdw sx="100000" sy="100000" kx="0" ky="0" algn="bl" rotWithShape="0" blurRad="101600" dist="38100" dir="8100000">
              <a:srgbClr val="000000">
                <a:alpha val="30000"/>
              </a:srgbClr>
            </a:outerShdw>
          </a:effectLst>
        </p:spPr>
      </p:sp>
      <p:sp>
        <p:nvSpPr>
          <p:cNvPr id="15" name="Shape 13"/>
          <p:cNvSpPr/>
          <p:nvPr/>
        </p:nvSpPr>
        <p:spPr>
          <a:xfrm>
            <a:off x="256032" y="3547872"/>
            <a:ext cx="64008" cy="1353312"/>
          </a:xfrm>
          <a:prstGeom prst="rect">
            <a:avLst/>
          </a:prstGeom>
          <a:solidFill>
            <a:srgbClr val="11A8C5"/>
          </a:solidFill>
          <a:ln w="12700">
            <a:solidFill>
              <a:srgbClr val="11A8C5"/>
            </a:solidFill>
            <a:prstDash val="solid"/>
          </a:ln>
        </p:spPr>
      </p:sp>
      <p:sp>
        <p:nvSpPr>
          <p:cNvPr id="16" name="Text 14"/>
          <p:cNvSpPr/>
          <p:nvPr/>
        </p:nvSpPr>
        <p:spPr>
          <a:xfrm>
            <a:off x="365760" y="3584448"/>
            <a:ext cx="457200" cy="384048"/>
          </a:xfrm>
          <a:prstGeom prst="rect">
            <a:avLst/>
          </a:prstGeom>
          <a:noFill/>
          <a:ln/>
        </p:spPr>
        <p:txBody>
          <a:bodyPr wrap="square" lIns="0" tIns="0" rIns="0" bIns="0" rtlCol="0" anchor="ctr"/>
          <a:lstStyle/>
          <a:p>
            <a:pPr algn="ctr" indent="0" marL="0">
              <a:buNone/>
            </a:pPr>
            <a:r>
              <a:rPr lang="en-US" sz="2000" b="1" dirty="0">
                <a:solidFill>
                  <a:srgbClr val="11A8C5"/>
                </a:solidFill>
              </a:rPr>
              <a:t>03</a:t>
            </a:r>
            <a:endParaRPr lang="en-US" sz="2000" dirty="0"/>
          </a:p>
        </p:txBody>
      </p:sp>
      <p:sp>
        <p:nvSpPr>
          <p:cNvPr id="17" name="Text 15"/>
          <p:cNvSpPr/>
          <p:nvPr/>
        </p:nvSpPr>
        <p:spPr>
          <a:xfrm>
            <a:off x="868680" y="3584448"/>
            <a:ext cx="7772400" cy="34747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Random Forest: más robusto, interpretable y escalable</a:t>
            </a:r>
            <a:endParaRPr lang="en-US" sz="1300" dirty="0"/>
          </a:p>
        </p:txBody>
      </p:sp>
      <p:sp>
        <p:nvSpPr>
          <p:cNvPr id="18" name="Text 16"/>
          <p:cNvSpPr/>
          <p:nvPr/>
        </p:nvSpPr>
        <p:spPr>
          <a:xfrm>
            <a:off x="868680" y="3950208"/>
            <a:ext cx="7818120" cy="822960"/>
          </a:xfrm>
          <a:prstGeom prst="rect">
            <a:avLst/>
          </a:prstGeom>
          <a:noFill/>
          <a:ln/>
        </p:spPr>
        <p:txBody>
          <a:bodyPr wrap="square" lIns="0" tIns="0" rIns="0" bIns="0" rtlCol="0" anchor="ctr"/>
          <a:lstStyle/>
          <a:p>
            <a:pPr indent="0" marL="0">
              <a:buNone/>
            </a:pPr>
            <a:r>
              <a:rPr lang="en-US" sz="1050" dirty="0">
                <a:solidFill>
                  <a:srgbClr val="B0C4CC"/>
                </a:solidFill>
                <a:latin typeface="Calibri" pitchFamily="34" charset="0"/>
                <a:ea typeface="Calibri" pitchFamily="34" charset="-122"/>
                <a:cs typeface="Calibri" pitchFamily="34" charset="-120"/>
              </a:rPr>
              <a:t>RF no requiere escalado, ofrece importancia nativa de variables y mantiene buen desempeño en un rango amplio de hiperparámetros. SVM/SVR es muy sensible al parámetro C y exige StandardScaler obligatorio. Para sistemas PV en producción, RF es la opción más práctica.</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5A82"/>
        </a:solidFill>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021526">
              <a:alpha val="60000"/>
            </a:srgbClr>
          </a:solidFill>
          <a:ln w="6350">
            <a:solidFill>
              <a:srgbClr val="11A8C5"/>
            </a:solidFill>
            <a:prstDash val="solid"/>
          </a:ln>
        </p:spPr>
      </p:sp>
      <p:sp>
        <p:nvSpPr>
          <p:cNvPr id="3" name="Shape 1"/>
          <p:cNvSpPr/>
          <p:nvPr/>
        </p:nvSpPr>
        <p:spPr>
          <a:xfrm>
            <a:off x="6858000" y="1828800"/>
            <a:ext cx="4114800" cy="4114800"/>
          </a:xfrm>
          <a:prstGeom prst="ellipse">
            <a:avLst/>
          </a:prstGeom>
          <a:solidFill>
            <a:srgbClr val="021526">
              <a:alpha val="60000"/>
            </a:srgbClr>
          </a:solidFill>
          <a:ln w="6350">
            <a:solidFill>
              <a:srgbClr val="11A8C5"/>
            </a:solidFill>
            <a:prstDash val="solid"/>
          </a:ln>
        </p:spPr>
      </p:sp>
      <p:sp>
        <p:nvSpPr>
          <p:cNvPr id="4" name="Text 2"/>
          <p:cNvSpPr/>
          <p:nvPr/>
        </p:nvSpPr>
        <p:spPr>
          <a:xfrm>
            <a:off x="914400" y="822960"/>
            <a:ext cx="7315200" cy="1005840"/>
          </a:xfrm>
          <a:prstGeom prst="rect">
            <a:avLst/>
          </a:prstGeom>
          <a:noFill/>
          <a:ln/>
        </p:spPr>
        <p:txBody>
          <a:bodyPr wrap="square" lIns="0" tIns="0" rIns="0" bIns="0" rtlCol="0" anchor="ctr"/>
          <a:lstStyle/>
          <a:p>
            <a:pPr algn="ctr" indent="0" marL="0">
              <a:buNone/>
            </a:pPr>
            <a:r>
              <a:rPr lang="en-US" sz="5200" b="1" dirty="0">
                <a:solidFill>
                  <a:srgbClr val="FFFFFF"/>
                </a:solidFill>
                <a:latin typeface="Calibri" pitchFamily="34" charset="0"/>
                <a:ea typeface="Calibri" pitchFamily="34" charset="-122"/>
                <a:cs typeface="Calibri" pitchFamily="34" charset="-120"/>
              </a:rPr>
              <a:t>¡Gracias!</a:t>
            </a:r>
            <a:endParaRPr lang="en-US" sz="5200" dirty="0"/>
          </a:p>
        </p:txBody>
      </p:sp>
      <p:sp>
        <p:nvSpPr>
          <p:cNvPr id="5" name="Text 3"/>
          <p:cNvSpPr/>
          <p:nvPr/>
        </p:nvSpPr>
        <p:spPr>
          <a:xfrm>
            <a:off x="731520" y="1920240"/>
            <a:ext cx="7680960" cy="365760"/>
          </a:xfrm>
          <a:prstGeom prst="rect">
            <a:avLst/>
          </a:prstGeom>
          <a:noFill/>
          <a:ln/>
        </p:spPr>
        <p:txBody>
          <a:bodyPr wrap="square" lIns="0" tIns="0" rIns="0" bIns="0" rtlCol="0" anchor="ctr"/>
          <a:lstStyle/>
          <a:p>
            <a:pPr algn="ctr" indent="0" marL="0">
              <a:buNone/>
            </a:pPr>
            <a:r>
              <a:rPr lang="en-US" sz="1200" i="1" dirty="0">
                <a:solidFill>
                  <a:srgbClr val="F4C430"/>
                </a:solidFill>
                <a:latin typeface="Calibri" pitchFamily="34" charset="0"/>
                <a:ea typeface="Calibri" pitchFamily="34" charset="-122"/>
                <a:cs typeface="Calibri" pitchFamily="34" charset="-120"/>
              </a:rPr>
              <a:t>Simulación → Preprocesamiento → Entrenamiento → Evaluación → Análisis crítico</a:t>
            </a:r>
            <a:endParaRPr lang="en-US" sz="1200" dirty="0"/>
          </a:p>
        </p:txBody>
      </p:sp>
      <p:sp>
        <p:nvSpPr>
          <p:cNvPr id="6" name="Shape 4"/>
          <p:cNvSpPr/>
          <p:nvPr/>
        </p:nvSpPr>
        <p:spPr>
          <a:xfrm>
            <a:off x="2286000" y="2377440"/>
            <a:ext cx="4572000" cy="22860"/>
          </a:xfrm>
          <a:prstGeom prst="rect">
            <a:avLst/>
          </a:prstGeom>
          <a:solidFill>
            <a:srgbClr val="FFFFFF">
              <a:alpha val="40000"/>
            </a:srgbClr>
          </a:solidFill>
          <a:ln w="12700">
            <a:solidFill>
              <a:srgbClr val="FFFFFF"/>
            </a:solidFill>
            <a:prstDash val="solid"/>
          </a:ln>
        </p:spPr>
      </p:sp>
      <p:sp>
        <p:nvSpPr>
          <p:cNvPr id="7" name="Text 5"/>
          <p:cNvSpPr/>
          <p:nvPr/>
        </p:nvSpPr>
        <p:spPr>
          <a:xfrm>
            <a:off x="457200" y="2606040"/>
            <a:ext cx="8229600" cy="320040"/>
          </a:xfrm>
          <a:prstGeom prst="rect">
            <a:avLst/>
          </a:prstGeom>
          <a:noFill/>
          <a:ln/>
        </p:spPr>
        <p:txBody>
          <a:bodyPr wrap="square" lIns="0" tIns="0" rIns="0" bIns="0" rtlCol="0" anchor="ctr"/>
          <a:lstStyle/>
          <a:p>
            <a:pPr algn="ctr" indent="0" marL="0">
              <a:buNone/>
            </a:pPr>
            <a:r>
              <a:rPr lang="en-US" sz="1100" dirty="0">
                <a:solidFill>
                  <a:srgbClr val="E8F4F8"/>
                </a:solidFill>
                <a:latin typeface="Calibri" pitchFamily="34" charset="0"/>
                <a:ea typeface="Calibri" pitchFamily="34" charset="-122"/>
                <a:cs typeface="Calibri" pitchFamily="34" charset="-120"/>
              </a:rPr>
              <a:t>Belsy Jhossira Mena Rentería  ·  Daniel Restrepo Ocampo  ·  Carlos Mario Carretero Castillo</a:t>
            </a:r>
            <a:endParaRPr lang="en-US" sz="1100" dirty="0"/>
          </a:p>
        </p:txBody>
      </p:sp>
      <p:sp>
        <p:nvSpPr>
          <p:cNvPr id="8" name="Text 6"/>
          <p:cNvSpPr/>
          <p:nvPr/>
        </p:nvSpPr>
        <p:spPr>
          <a:xfrm>
            <a:off x="457200" y="2971800"/>
            <a:ext cx="8229600" cy="274320"/>
          </a:xfrm>
          <a:prstGeom prst="rect">
            <a:avLst/>
          </a:prstGeom>
          <a:noFill/>
          <a:ln/>
        </p:spPr>
        <p:txBody>
          <a:bodyPr wrap="square" lIns="0" tIns="0" rIns="0" bIns="0" rtlCol="0" anchor="ctr"/>
          <a:lstStyle/>
          <a:p>
            <a:pPr algn="ctr" indent="0" marL="0">
              <a:buNone/>
            </a:pPr>
            <a:r>
              <a:rPr lang="en-US" sz="1000" dirty="0">
                <a:solidFill>
                  <a:srgbClr val="B0C4CC"/>
                </a:solidFill>
                <a:latin typeface="Calibri" pitchFamily="34" charset="0"/>
                <a:ea typeface="Calibri" pitchFamily="34" charset="-122"/>
                <a:cs typeface="Calibri" pitchFamily="34" charset="-120"/>
              </a:rPr>
              <a:t>UTP · Inteligencia Artificial · Mayo 2026</a:t>
            </a:r>
            <a:endParaRPr lang="en-US" sz="1000" dirty="0"/>
          </a:p>
        </p:txBody>
      </p:sp>
      <p:sp>
        <p:nvSpPr>
          <p:cNvPr id="9" name="Text 7"/>
          <p:cNvSpPr/>
          <p:nvPr/>
        </p:nvSpPr>
        <p:spPr>
          <a:xfrm>
            <a:off x="457200" y="4480560"/>
            <a:ext cx="8229600" cy="292608"/>
          </a:xfrm>
          <a:prstGeom prst="rect">
            <a:avLst/>
          </a:prstGeom>
          <a:noFill/>
          <a:ln/>
        </p:spPr>
        <p:txBody>
          <a:bodyPr wrap="square" lIns="0" tIns="0" rIns="0" bIns="0" rtlCol="0" anchor="ctr"/>
          <a:lstStyle/>
          <a:p>
            <a:pPr algn="ctr" indent="0" marL="0">
              <a:buNone/>
            </a:pPr>
            <a:r>
              <a:rPr lang="en-US" sz="900" dirty="0">
                <a:solidFill>
                  <a:srgbClr val="E8F4F8"/>
                </a:solidFill>
                <a:latin typeface="Calibri" pitchFamily="34" charset="0"/>
                <a:ea typeface="Calibri" pitchFamily="34" charset="-122"/>
                <a:cs typeface="Calibri" pitchFamily="34" charset="-120"/>
              </a:rPr>
              <a:t>🔗  github.com/CarlosMarioCarreteroCastillo/An-lisis-Predictivo-en-Sistemas-Fotovoltaicos-Random-Forest-vs.-SVM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 vs SVM — Sistema Fotovoltaico</dc:title>
  <dc:subject>PptxGenJS Presentation</dc:subject>
  <dc:creator>PptxGenJS</dc:creator>
  <cp:lastModifiedBy>PptxGenJS</cp:lastModifiedBy>
  <cp:revision>1</cp:revision>
  <dcterms:created xsi:type="dcterms:W3CDTF">2026-05-26T04:52:16Z</dcterms:created>
  <dcterms:modified xsi:type="dcterms:W3CDTF">2026-05-26T04:52:16Z</dcterms:modified>
</cp:coreProperties>
</file>